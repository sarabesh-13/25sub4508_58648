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1120" y="-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Software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Software refers to a collection of programs and data that instruct a computer to perform tasks.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Major classifications include:</a:t>
            </a:r>
          </a:p>
          <a:p>
            <a:pPr marL="0" indent="0">
              <a:buNone/>
            </a:pPr>
            <a:r>
              <a:rPr sz="1600" dirty="0"/>
              <a:t>• System Software</a:t>
            </a:r>
          </a:p>
          <a:p>
            <a:pPr marL="0" indent="0">
              <a:buNone/>
            </a:pPr>
            <a:r>
              <a:rPr sz="1600" dirty="0"/>
              <a:t>• Application Software</a:t>
            </a:r>
          </a:p>
          <a:p>
            <a:pPr marL="0" indent="0">
              <a:buNone/>
            </a:pPr>
            <a:r>
              <a:rPr sz="1600" dirty="0"/>
              <a:t>• Utility and Middleware Software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sz="1600" dirty="0" smtClean="0"/>
              <a:t>These </a:t>
            </a:r>
            <a:r>
              <a:rPr sz="1600" dirty="0"/>
              <a:t>categories help in understanding the role and functionality of software in computing systems.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System Software vs Application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/>
              <a:t>System Software:</a:t>
            </a:r>
          </a:p>
          <a:p>
            <a:pPr marL="0" indent="0">
              <a:buNone/>
            </a:pPr>
            <a:r>
              <a:rPr sz="1600" dirty="0"/>
              <a:t>• Manages hardware and system resources</a:t>
            </a:r>
          </a:p>
          <a:p>
            <a:pPr marL="0" indent="0">
              <a:buNone/>
            </a:pPr>
            <a:r>
              <a:rPr sz="1600" dirty="0"/>
              <a:t>• Examples: Operating Systems, Device Drivers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Application Software:</a:t>
            </a:r>
          </a:p>
          <a:p>
            <a:pPr marL="0" indent="0">
              <a:buNone/>
            </a:pPr>
            <a:r>
              <a:rPr sz="1600" dirty="0"/>
              <a:t>• Designed for end-users</a:t>
            </a:r>
          </a:p>
          <a:p>
            <a:pPr marL="0" indent="0">
              <a:buNone/>
            </a:pPr>
            <a:r>
              <a:rPr sz="1600" dirty="0"/>
              <a:t>• Examples: Word Processors, Web Browsers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Flow Representation</a:t>
            </a:r>
            <a:r>
              <a:rPr sz="1600" b="1" dirty="0" smtClean="0"/>
              <a:t>:</a:t>
            </a:r>
            <a:endParaRPr lang="en-US" sz="1600" b="1" dirty="0" smtClean="0"/>
          </a:p>
          <a:p>
            <a:r>
              <a:rPr lang="en-US" sz="1600" dirty="0" smtClean="0"/>
              <a:t>User-&gt;Application Software-&gt;System Software-&gt;Hardware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Categories and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 b="1" dirty="0"/>
              <a:t>Licensing Models:</a:t>
            </a:r>
          </a:p>
          <a:p>
            <a:pPr marL="0" indent="0">
              <a:buNone/>
            </a:pPr>
            <a:r>
              <a:rPr sz="1600" dirty="0"/>
              <a:t>• Proprietary – Owned and restricted</a:t>
            </a:r>
          </a:p>
          <a:p>
            <a:pPr marL="0" indent="0">
              <a:buNone/>
            </a:pPr>
            <a:r>
              <a:rPr sz="1600" dirty="0"/>
              <a:t>• Open-Source – Source code publicly available</a:t>
            </a:r>
          </a:p>
          <a:p>
            <a:pPr marL="0" indent="0">
              <a:buNone/>
            </a:pPr>
            <a:r>
              <a:rPr sz="1600" dirty="0" smtClean="0"/>
              <a:t>• </a:t>
            </a:r>
            <a:r>
              <a:rPr sz="1600" dirty="0"/>
              <a:t>Freeware – Free to use, limited rights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Application Platforms:</a:t>
            </a:r>
          </a:p>
          <a:p>
            <a:pPr marL="0" indent="0">
              <a:buNone/>
            </a:pPr>
            <a:r>
              <a:rPr sz="1600" dirty="0"/>
              <a:t>• Web Applications (Browser-based)</a:t>
            </a:r>
          </a:p>
          <a:p>
            <a:pPr marL="0" indent="0">
              <a:buNone/>
            </a:pPr>
            <a:r>
              <a:rPr sz="1600" dirty="0"/>
              <a:t>• Desktop Applications (Installed locally)</a:t>
            </a:r>
          </a:p>
          <a:p>
            <a:pPr marL="0" indent="0">
              <a:buNone/>
            </a:pPr>
            <a:r>
              <a:rPr sz="1600" dirty="0"/>
              <a:t>• Mobile Applications (Smartphones/Tablets)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Software Architecture and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 dirty="0"/>
              <a:t>Software Architecture defines the high-level structure of a system.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Design Patterns:</a:t>
            </a:r>
          </a:p>
          <a:p>
            <a:pPr marL="0" indent="0">
              <a:buNone/>
            </a:pPr>
            <a:r>
              <a:rPr sz="1600" dirty="0"/>
              <a:t>• Reusable solutions to common problems</a:t>
            </a:r>
          </a:p>
          <a:p>
            <a:pPr marL="0" indent="0">
              <a:buNone/>
            </a:pPr>
            <a:r>
              <a:rPr sz="1600" dirty="0"/>
              <a:t>• Based on proven best practices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Principles:</a:t>
            </a:r>
          </a:p>
          <a:p>
            <a:pPr marL="0" indent="0">
              <a:buNone/>
            </a:pPr>
            <a:r>
              <a:rPr sz="1600" dirty="0"/>
              <a:t>• Modularity</a:t>
            </a:r>
          </a:p>
          <a:p>
            <a:pPr marL="0" indent="0">
              <a:buNone/>
            </a:pPr>
            <a:r>
              <a:rPr sz="1600" dirty="0"/>
              <a:t>• Reusability</a:t>
            </a:r>
          </a:p>
          <a:p>
            <a:pPr marL="0" indent="0">
              <a:buNone/>
            </a:pPr>
            <a:r>
              <a:rPr sz="1600" dirty="0"/>
              <a:t>• Maintainability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Benefits:</a:t>
            </a:r>
          </a:p>
          <a:p>
            <a:pPr marL="0" indent="0">
              <a:buNone/>
            </a:pPr>
            <a:r>
              <a:rPr sz="1600" dirty="0"/>
              <a:t>• Improved code quality</a:t>
            </a:r>
          </a:p>
          <a:p>
            <a:pPr marL="0" indent="0">
              <a:buNone/>
            </a:pPr>
            <a:r>
              <a:rPr sz="1600" dirty="0"/>
              <a:t>• Faster development</a:t>
            </a:r>
          </a:p>
          <a:p>
            <a:pPr marL="0" indent="0">
              <a:buNone/>
            </a:pPr>
            <a:r>
              <a:rPr sz="1600" dirty="0" smtClean="0"/>
              <a:t>• </a:t>
            </a:r>
            <a:r>
              <a:rPr sz="1600" dirty="0"/>
              <a:t>Reduced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Common Design Patterns and Anti-Patterns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 b="1" dirty="0"/>
              <a:t>Common Design Patterns:</a:t>
            </a:r>
          </a:p>
          <a:p>
            <a:pPr marL="0" indent="0">
              <a:buNone/>
            </a:pPr>
            <a:r>
              <a:rPr sz="1600" dirty="0"/>
              <a:t>• Singleton</a:t>
            </a:r>
          </a:p>
          <a:p>
            <a:pPr marL="0" indent="0">
              <a:buNone/>
            </a:pPr>
            <a:r>
              <a:rPr sz="1600" dirty="0"/>
              <a:t>• Factory</a:t>
            </a:r>
          </a:p>
          <a:p>
            <a:pPr marL="0" indent="0">
              <a:buNone/>
            </a:pPr>
            <a:r>
              <a:rPr sz="1600" dirty="0"/>
              <a:t>• Observer</a:t>
            </a:r>
          </a:p>
          <a:p>
            <a:pPr marL="0" indent="0">
              <a:buNone/>
            </a:pPr>
            <a:r>
              <a:rPr sz="1600" dirty="0"/>
              <a:t>• Strategy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Anti-Patterns:</a:t>
            </a:r>
          </a:p>
          <a:p>
            <a:pPr marL="0" indent="0">
              <a:buNone/>
            </a:pPr>
            <a:r>
              <a:rPr sz="1600" dirty="0"/>
              <a:t>• Poor or ineffective solutions</a:t>
            </a:r>
          </a:p>
          <a:p>
            <a:pPr marL="0" indent="0">
              <a:buNone/>
            </a:pPr>
            <a:r>
              <a:rPr sz="1600" dirty="0"/>
              <a:t>• Lead to maintainability issues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Example:</a:t>
            </a:r>
          </a:p>
          <a:p>
            <a:r>
              <a:rPr sz="1600" dirty="0"/>
              <a:t>Quick Fix  ---&gt;  Long-Term Problem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MVC (Model-View-Controller)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 b="1" dirty="0"/>
              <a:t>Core Components:</a:t>
            </a:r>
          </a:p>
          <a:p>
            <a:pPr marL="0" indent="0">
              <a:buNone/>
            </a:pPr>
            <a:r>
              <a:rPr sz="1600" dirty="0"/>
              <a:t>• Model – Data and business logic</a:t>
            </a:r>
          </a:p>
          <a:p>
            <a:pPr marL="0" indent="0">
              <a:buNone/>
            </a:pPr>
            <a:r>
              <a:rPr sz="1600" dirty="0"/>
              <a:t>• View – User interface</a:t>
            </a:r>
          </a:p>
          <a:p>
            <a:pPr marL="0" indent="0">
              <a:buNone/>
            </a:pPr>
            <a:r>
              <a:rPr sz="1600" dirty="0"/>
              <a:t>• Controller – Handles input and control flow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Flow Diagram:</a:t>
            </a:r>
          </a:p>
          <a:p>
            <a:r>
              <a:rPr sz="1600" dirty="0"/>
              <a:t>User </a:t>
            </a:r>
            <a:r>
              <a:rPr lang="en-US" sz="1600" dirty="0" smtClean="0">
                <a:sym typeface="Wingdings" panose="05000000000000000000" pitchFamily="2" charset="2"/>
              </a:rPr>
              <a:t></a:t>
            </a:r>
            <a:r>
              <a:rPr sz="1600" dirty="0" smtClean="0"/>
              <a:t> </a:t>
            </a:r>
            <a:r>
              <a:rPr sz="1600" dirty="0"/>
              <a:t>Controller </a:t>
            </a:r>
            <a:r>
              <a:rPr lang="en-US" sz="1600" dirty="0" smtClean="0">
                <a:sym typeface="Wingdings" panose="05000000000000000000" pitchFamily="2" charset="2"/>
              </a:rPr>
              <a:t></a:t>
            </a:r>
            <a:r>
              <a:rPr sz="1600" dirty="0" smtClean="0"/>
              <a:t> Model</a:t>
            </a:r>
            <a:r>
              <a:rPr lang="en-US" sz="1600" dirty="0" smtClean="0"/>
              <a:t> </a:t>
            </a:r>
            <a:r>
              <a:rPr lang="en-US" sz="1600" dirty="0" smtClean="0">
                <a:sym typeface="Wingdings" panose="05000000000000000000" pitchFamily="2" charset="2"/>
              </a:rPr>
              <a:t> </a:t>
            </a:r>
            <a:r>
              <a:rPr sz="1600" dirty="0" smtClean="0"/>
              <a:t>View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MVC Benefits, Variants,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 b="1" dirty="0"/>
              <a:t>Benefits:</a:t>
            </a:r>
          </a:p>
          <a:p>
            <a:pPr marL="0" indent="0">
              <a:buNone/>
            </a:pPr>
            <a:r>
              <a:rPr sz="1600" dirty="0"/>
              <a:t>• Separation of concerns</a:t>
            </a:r>
          </a:p>
          <a:p>
            <a:pPr marL="0" indent="0">
              <a:buNone/>
            </a:pPr>
            <a:r>
              <a:rPr sz="1600" dirty="0"/>
              <a:t>• Easier maintenance and testing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Variants:</a:t>
            </a:r>
          </a:p>
          <a:p>
            <a:pPr marL="0" indent="0">
              <a:buNone/>
            </a:pPr>
            <a:r>
              <a:rPr sz="1600" dirty="0"/>
              <a:t>• MVP (Model-View-Presenter)</a:t>
            </a:r>
          </a:p>
          <a:p>
            <a:pPr marL="0" indent="0">
              <a:buNone/>
            </a:pPr>
            <a:r>
              <a:rPr sz="1600" dirty="0"/>
              <a:t>• MVVM (Model-View-</a:t>
            </a:r>
            <a:r>
              <a:rPr sz="1600" dirty="0" err="1"/>
              <a:t>ViewModel</a:t>
            </a:r>
            <a:r>
              <a:rPr sz="1600" dirty="0"/>
              <a:t>)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Challenges:</a:t>
            </a:r>
          </a:p>
          <a:p>
            <a:pPr marL="0" indent="0">
              <a:buNone/>
            </a:pPr>
            <a:r>
              <a:rPr sz="1600" dirty="0"/>
              <a:t>• Increased complexity</a:t>
            </a:r>
          </a:p>
          <a:p>
            <a:pPr marL="0" indent="0">
              <a:buNone/>
            </a:pPr>
            <a:r>
              <a:rPr sz="1600" dirty="0"/>
              <a:t>• Coordination between components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Solution:</a:t>
            </a:r>
          </a:p>
          <a:p>
            <a:pPr marL="0" indent="0">
              <a:buNone/>
            </a:pPr>
            <a:r>
              <a:rPr sz="1600" dirty="0"/>
              <a:t>• Clear interface definitions</a:t>
            </a:r>
          </a:p>
          <a:p>
            <a:pPr marL="0" indent="0">
              <a:buNone/>
            </a:pPr>
            <a:r>
              <a:rPr sz="1600" dirty="0"/>
              <a:t>• Proper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Service-Oriented Architecture (SOA)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600" b="1" dirty="0"/>
              <a:t>SOA Definition:</a:t>
            </a:r>
          </a:p>
          <a:p>
            <a:pPr marL="0" indent="0">
              <a:buNone/>
            </a:pPr>
            <a:r>
              <a:rPr sz="1600" dirty="0"/>
              <a:t>• Architectural style using reusable services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Core Principles:</a:t>
            </a:r>
          </a:p>
          <a:p>
            <a:pPr marL="0" indent="0">
              <a:buNone/>
            </a:pPr>
            <a:r>
              <a:rPr sz="1600" dirty="0"/>
              <a:t>• Loose coupling</a:t>
            </a:r>
          </a:p>
          <a:p>
            <a:pPr marL="0" indent="0">
              <a:buNone/>
            </a:pPr>
            <a:r>
              <a:rPr sz="1600" dirty="0"/>
              <a:t>• Reusability</a:t>
            </a:r>
          </a:p>
          <a:p>
            <a:pPr marL="0" indent="0">
              <a:buNone/>
            </a:pPr>
            <a:r>
              <a:rPr sz="1600" dirty="0"/>
              <a:t>• Interoperability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SOA Components:</a:t>
            </a:r>
          </a:p>
          <a:p>
            <a:r>
              <a:rPr sz="1600" dirty="0"/>
              <a:t>Service Provider ... Service Registry ... Service Consumer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SOA vs </a:t>
            </a:r>
            <a:r>
              <a:rPr sz="1600" b="1" dirty="0" err="1"/>
              <a:t>Microservices</a:t>
            </a:r>
            <a:r>
              <a:rPr sz="1600" b="1" dirty="0"/>
              <a:t>:</a:t>
            </a:r>
          </a:p>
          <a:p>
            <a:pPr marL="0" indent="0">
              <a:buNone/>
            </a:pPr>
            <a:r>
              <a:rPr sz="1600" dirty="0"/>
              <a:t>• SOA – Enterprise-level, shared services</a:t>
            </a:r>
          </a:p>
          <a:p>
            <a:pPr marL="0" indent="0">
              <a:buNone/>
            </a:pPr>
            <a:r>
              <a:rPr sz="1600" dirty="0"/>
              <a:t>• </a:t>
            </a:r>
            <a:r>
              <a:rPr sz="1600" dirty="0" err="1"/>
              <a:t>Microservices</a:t>
            </a:r>
            <a:r>
              <a:rPr sz="1600" dirty="0"/>
              <a:t> – Fine-grained, independent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376</Words>
  <Application>Microsoft Office PowerPoint</Application>
  <PresentationFormat>On-screen Show (4:3)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Introduction to Software Types</vt:lpstr>
      <vt:lpstr>System Software vs Application Software</vt:lpstr>
      <vt:lpstr>Software Categories and Platforms</vt:lpstr>
      <vt:lpstr>Software Architecture and Design Patterns</vt:lpstr>
      <vt:lpstr>Common Design Patterns and Anti-Patterns</vt:lpstr>
      <vt:lpstr>MVC (Model-View-Controller) Architecture</vt:lpstr>
      <vt:lpstr>MVC Benefits, Variants, and Challenges</vt:lpstr>
      <vt:lpstr>Service-Oriented Architecture (SOA)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Types</dc:title>
  <dc:subject/>
  <dc:creator>Sarabesh Kanishkar V</dc:creator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2026-01-29T09:05:59Z</dcterms:modified>
  <cp:category/>
</cp:coreProperties>
</file>