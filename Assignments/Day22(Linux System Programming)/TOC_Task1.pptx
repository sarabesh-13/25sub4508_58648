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6" r:id="rId2"/>
    <p:sldId id="261" r:id="rId3"/>
    <p:sldId id="260" r:id="rId4"/>
    <p:sldId id="262" r:id="rId5"/>
    <p:sldId id="257" r:id="rId6"/>
    <p:sldId id="258" r:id="rId7"/>
    <p:sldId id="25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A57EE-6C35-4955-9930-968914DB2F85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0703F-245D-42D2-A530-F1CD9DFCC6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404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A57EE-6C35-4955-9930-968914DB2F85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0703F-245D-42D2-A530-F1CD9DFCC6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964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A57EE-6C35-4955-9930-968914DB2F85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0703F-245D-42D2-A530-F1CD9DFCC6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215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A57EE-6C35-4955-9930-968914DB2F85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0703F-245D-42D2-A530-F1CD9DFCC6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878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A57EE-6C35-4955-9930-968914DB2F85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0703F-245D-42D2-A530-F1CD9DFCC6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684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A57EE-6C35-4955-9930-968914DB2F85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0703F-245D-42D2-A530-F1CD9DFCC6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82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A57EE-6C35-4955-9930-968914DB2F85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0703F-245D-42D2-A530-F1CD9DFCC6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270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A57EE-6C35-4955-9930-968914DB2F85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0703F-245D-42D2-A530-F1CD9DFCC6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685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956A57EE-6C35-4955-9930-968914DB2F85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9980703F-245D-42D2-A530-F1CD9DFCC6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A57EE-6C35-4955-9930-968914DB2F85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0703F-245D-42D2-A530-F1CD9DFCC6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4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A57EE-6C35-4955-9930-968914DB2F85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0703F-245D-42D2-A530-F1CD9DFCC6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3037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A57EE-6C35-4955-9930-968914DB2F85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0703F-245D-42D2-A530-F1CD9DFCC6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6084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A57EE-6C35-4955-9930-968914DB2F85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0703F-245D-42D2-A530-F1CD9DFCC6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8738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A57EE-6C35-4955-9930-968914DB2F85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0703F-245D-42D2-A530-F1CD9DFCC6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4827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A57EE-6C35-4955-9930-968914DB2F85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0703F-245D-42D2-A530-F1CD9DFCC6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3354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A57EE-6C35-4955-9930-968914DB2F85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0703F-245D-42D2-A530-F1CD9DFCC6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1166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A57EE-6C35-4955-9930-968914DB2F85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0703F-245D-42D2-A530-F1CD9DFCC6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6722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A57EE-6C35-4955-9930-968914DB2F85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0703F-245D-42D2-A530-F1CD9DFCC6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136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956A57EE-6C35-4955-9930-968914DB2F85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9980703F-245D-42D2-A530-F1CD9DFCC6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6585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Linux Kernel Architecture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Deep Dive into the Core of the OS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1604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362" y="1088205"/>
            <a:ext cx="10515600" cy="4820981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User Space (Applications &amp; </a:t>
            </a:r>
            <a:r>
              <a:rPr lang="en-US" sz="4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glibc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 marL="0" indent="0">
              <a:buNone/>
            </a:pPr>
            <a:r>
              <a:rPr lang="en-US" sz="2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user apps and the GNU C Library (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glibc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indent="0">
              <a:buNone/>
            </a:pP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glibc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acts as the primary wrapper for system calls.</a:t>
            </a:r>
          </a:p>
          <a:p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System Call Interface (SCI):</a:t>
            </a:r>
          </a:p>
          <a:p>
            <a:pPr marL="0" indent="0">
              <a:buNone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gatekeeper. It transitions requests from User Space to Kernel Space.</a:t>
            </a:r>
          </a:p>
          <a:p>
            <a:pPr marL="0" indent="0">
              <a:buNone/>
            </a:pP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Ensures security and provides a stable API for developers.</a:t>
            </a:r>
          </a:p>
          <a:p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Kernel Space (The Engine):</a:t>
            </a:r>
          </a:p>
          <a:p>
            <a:pPr marL="0" indent="0">
              <a:buNone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'Main Kernel' manages scheduling, memory, and filesystems.</a:t>
            </a:r>
          </a:p>
          <a:p>
            <a:pPr marL="0" indent="0">
              <a:buNone/>
            </a:pP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'Arch-Dependent Code' optimizes the kernel for specific CPUs (x86, ARM).</a:t>
            </a:r>
          </a:p>
          <a:p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 Hardware Platform:</a:t>
            </a:r>
          </a:p>
          <a:p>
            <a:pPr marL="0" indent="0">
              <a:buNone/>
            </a:pP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The physical layer (CPU, RAM, Disk, NIC).</a:t>
            </a:r>
          </a:p>
          <a:p>
            <a:pPr marL="0" indent="0">
              <a:buNone/>
            </a:pP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Controlled by the kernel via Device Drivers.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5153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 Comprehensive Beginner's Guide to the Linux Kernel | by Karthikeyan  Nagaraj | InfoSec Write-up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5149" y="1297757"/>
            <a:ext cx="7143750" cy="4019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1265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4999" y="254000"/>
            <a:ext cx="11134213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600" b="1" dirty="0" smtClean="0">
                <a:solidFill>
                  <a:srgbClr val="FFFFFF"/>
                </a:solidFill>
              </a:rPr>
              <a:t>Architectural Breakdown: User vs. Kernel Space</a:t>
            </a:r>
            <a:endParaRPr lang="en-US" sz="3600" b="1" dirty="0">
              <a:solidFill>
                <a:srgbClr val="FFFFFF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72651" y="1053691"/>
            <a:ext cx="5715000" cy="5334000"/>
          </a:xfrm>
          <a:prstGeom prst="rect">
            <a:avLst/>
          </a:prstGeom>
          <a:solidFill>
            <a:srgbClr val="141414">
              <a:alpha val="70000"/>
            </a:srgbClr>
          </a:solidFill>
          <a:ln>
            <a:solidFill>
              <a:srgbClr val="009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90500" rtlCol="0" anchor="ctr"/>
          <a:lstStyle/>
          <a:p>
            <a:r>
              <a:rPr lang="en-US" sz="1400" dirty="0" smtClean="0">
                <a:solidFill>
                  <a:srgbClr val="F0F0F0"/>
                </a:solidFill>
              </a:rPr>
              <a:t>SYSTEM ARCHITECTURE DETAILS:</a:t>
            </a:r>
          </a:p>
          <a:p>
            <a:endParaRPr lang="en-US" sz="1400" dirty="0" smtClean="0">
              <a:solidFill>
                <a:srgbClr val="F0F0F0"/>
              </a:solidFill>
            </a:endParaRPr>
          </a:p>
          <a:p>
            <a:r>
              <a:rPr lang="en-US" sz="1400" dirty="0" smtClean="0">
                <a:solidFill>
                  <a:srgbClr val="F0F0F0"/>
                </a:solidFill>
              </a:rPr>
              <a:t>• TRAP MECHANISM: When </a:t>
            </a:r>
            <a:r>
              <a:rPr lang="en-US" sz="1400" dirty="0" err="1" smtClean="0">
                <a:solidFill>
                  <a:srgbClr val="F0F0F0"/>
                </a:solidFill>
              </a:rPr>
              <a:t>glibc</a:t>
            </a:r>
            <a:r>
              <a:rPr lang="en-US" sz="1400" dirty="0" smtClean="0">
                <a:solidFill>
                  <a:srgbClr val="F0F0F0"/>
                </a:solidFill>
              </a:rPr>
              <a:t> executes a System Call, it triggers a 'Software Interrupt' (Trap), forcing the CPU to switch from Ring 3 (User) to Ring 0 (Kernel) mode.</a:t>
            </a:r>
          </a:p>
          <a:p>
            <a:endParaRPr lang="en-US" sz="1400" dirty="0" smtClean="0">
              <a:solidFill>
                <a:srgbClr val="F0F0F0"/>
              </a:solidFill>
            </a:endParaRPr>
          </a:p>
          <a:p>
            <a:r>
              <a:rPr lang="en-US" sz="1400" dirty="0" smtClean="0">
                <a:solidFill>
                  <a:srgbClr val="F0F0F0"/>
                </a:solidFill>
              </a:rPr>
              <a:t>• MONOLITHIC DESIGN: Unlike Microkernels, Linux runs the Scheduler, VFS, and Network Stack within a single address space to eliminate IPC overhead and boost speed.</a:t>
            </a:r>
          </a:p>
          <a:p>
            <a:endParaRPr lang="en-US" sz="1400" dirty="0" smtClean="0">
              <a:solidFill>
                <a:srgbClr val="F0F0F0"/>
              </a:solidFill>
            </a:endParaRPr>
          </a:p>
          <a:p>
            <a:r>
              <a:rPr lang="en-US" sz="1400" dirty="0" smtClean="0">
                <a:solidFill>
                  <a:srgbClr val="F0F0F0"/>
                </a:solidFill>
              </a:rPr>
              <a:t>• ARCH-DEPENDENT LAYER: This is the 'Hardware Abstraction Layer' (HAL). It contains assembly code specific to CPUs (like x86_64 or ARM), allowing the core kernel to remain portable.</a:t>
            </a:r>
          </a:p>
          <a:p>
            <a:endParaRPr lang="en-US" sz="1400" dirty="0" smtClean="0">
              <a:solidFill>
                <a:srgbClr val="F0F0F0"/>
              </a:solidFill>
            </a:endParaRPr>
          </a:p>
          <a:p>
            <a:r>
              <a:rPr lang="en-US" sz="1400" dirty="0" smtClean="0">
                <a:solidFill>
                  <a:srgbClr val="F0F0F0"/>
                </a:solidFill>
              </a:rPr>
              <a:t>• GLIBC WRAPPER: Applications don't talk to the kernel; they talk to </a:t>
            </a:r>
            <a:r>
              <a:rPr lang="en-US" sz="1400" dirty="0" err="1" smtClean="0">
                <a:solidFill>
                  <a:srgbClr val="F0F0F0"/>
                </a:solidFill>
              </a:rPr>
              <a:t>glibc</a:t>
            </a:r>
            <a:r>
              <a:rPr lang="en-US" sz="1400" dirty="0" smtClean="0">
                <a:solidFill>
                  <a:srgbClr val="F0F0F0"/>
                </a:solidFill>
              </a:rPr>
              <a:t>. This ensures that if the kernel API changes, the application code doesn't have to.</a:t>
            </a:r>
            <a:endParaRPr lang="en-US" sz="1400" dirty="0">
              <a:solidFill>
                <a:srgbClr val="F0F0F0"/>
              </a:solidFill>
            </a:endParaRPr>
          </a:p>
        </p:txBody>
      </p:sp>
      <p:pic>
        <p:nvPicPr>
          <p:cNvPr id="2050" name="Picture 2" descr="What are the Process Management System Calls?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0671" y="1563328"/>
            <a:ext cx="3106994" cy="3814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100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Process Scheduler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5439" y="1221658"/>
            <a:ext cx="9905998" cy="3124201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• Manages CPU time for all processes.</a:t>
            </a:r>
          </a:p>
          <a:p>
            <a:pPr marL="0" indent="0">
              <a:buNone/>
            </a:pPr>
            <a:r>
              <a:rPr lang="en-US" dirty="0" smtClean="0"/>
              <a:t>• Uses the Completely Fair Scheduler (CFS).</a:t>
            </a:r>
          </a:p>
          <a:p>
            <a:pPr marL="0" indent="0">
              <a:buNone/>
            </a:pPr>
            <a:r>
              <a:rPr lang="en-US" dirty="0" smtClean="0"/>
              <a:t>• Supports Preemption and Multi-core scalability.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762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Virtual File System (VFS)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5606" y="1162663"/>
            <a:ext cx="9905998" cy="3124201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• An abstraction layer for storage.</a:t>
            </a:r>
          </a:p>
          <a:p>
            <a:pPr marL="0" indent="0">
              <a:buNone/>
            </a:pPr>
            <a:r>
              <a:rPr lang="en-US" dirty="0" smtClean="0"/>
              <a:t>• Supports multiple formats (ext4, XFS, </a:t>
            </a:r>
            <a:r>
              <a:rPr lang="en-US" dirty="0" err="1" smtClean="0"/>
              <a:t>Btrfs</a:t>
            </a:r>
            <a:r>
              <a:rPr lang="en-US" dirty="0" smtClean="0"/>
              <a:t>).</a:t>
            </a:r>
          </a:p>
          <a:p>
            <a:pPr marL="0" indent="0">
              <a:buNone/>
            </a:pPr>
            <a:r>
              <a:rPr lang="en-US" dirty="0" smtClean="0"/>
              <a:t>• Standardizes 'read/write' operations for applications.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011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Network Stack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4935" y="1211825"/>
            <a:ext cx="9905998" cy="3124201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• Implements TCP/IP and other protocols.</a:t>
            </a:r>
          </a:p>
          <a:p>
            <a:pPr marL="0" indent="0">
              <a:buNone/>
            </a:pPr>
            <a:r>
              <a:rPr lang="en-US" dirty="0" smtClean="0"/>
              <a:t>• Uses a socket-based API for communication.</a:t>
            </a:r>
          </a:p>
          <a:p>
            <a:pPr marL="0" indent="0">
              <a:buNone/>
            </a:pPr>
            <a:r>
              <a:rPr lang="en-US" dirty="0" smtClean="0"/>
              <a:t>• Interfaces directly with Network Interface Cards (NICs).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2943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20</TotalTime>
  <Words>373</Words>
  <Application>Microsoft Office PowerPoint</Application>
  <PresentationFormat>Widescreen</PresentationFormat>
  <Paragraphs>39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Times New Roman</vt:lpstr>
      <vt:lpstr>Mesh</vt:lpstr>
      <vt:lpstr>Linux Kernel Architecture</vt:lpstr>
      <vt:lpstr>PowerPoint Presentation</vt:lpstr>
      <vt:lpstr>PowerPoint Presentation</vt:lpstr>
      <vt:lpstr>PowerPoint Presentation</vt:lpstr>
      <vt:lpstr>Process Scheduler</vt:lpstr>
      <vt:lpstr>Virtual File System (VFS)</vt:lpstr>
      <vt:lpstr>Network Stack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Kernel Architecture</dc:title>
  <dc:creator>Microsoft account</dc:creator>
  <cp:lastModifiedBy>Microsoft account</cp:lastModifiedBy>
  <cp:revision>4</cp:revision>
  <dcterms:created xsi:type="dcterms:W3CDTF">2026-01-14T19:43:05Z</dcterms:created>
  <dcterms:modified xsi:type="dcterms:W3CDTF">2026-01-14T20:03:55Z</dcterms:modified>
</cp:coreProperties>
</file>