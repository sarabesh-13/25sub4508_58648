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1" r:id="rId5"/>
    <p:sldId id="264" r:id="rId6"/>
    <p:sldId id="269" r:id="rId7"/>
    <p:sldId id="265" r:id="rId8"/>
    <p:sldId id="266" r:id="rId9"/>
    <p:sldId id="268" r:id="rId10"/>
    <p:sldId id="273" r:id="rId11"/>
    <p:sldId id="277" r:id="rId12"/>
    <p:sldId id="281" r:id="rId13"/>
    <p:sldId id="284" r:id="rId14"/>
    <p:sldId id="288" r:id="rId15"/>
    <p:sldId id="290" r:id="rId16"/>
    <p:sldId id="292" r:id="rId17"/>
    <p:sldId id="297" r:id="rId18"/>
    <p:sldId id="300" r:id="rId19"/>
    <p:sldId id="303" r:id="rId20"/>
    <p:sldId id="305" r:id="rId21"/>
    <p:sldId id="307" r:id="rId22"/>
    <p:sldId id="310" r:id="rId23"/>
    <p:sldId id="311" r:id="rId24"/>
    <p:sldId id="312" r:id="rId25"/>
    <p:sldId id="313" r:id="rId26"/>
    <p:sldId id="314" r:id="rId27"/>
    <p:sldId id="315" r:id="rId28"/>
    <p:sldId id="316" r:id="rId29"/>
    <p:sldId id="317" r:id="rId30"/>
    <p:sldId id="31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FC60729-5785-4AE5-AAF9-D078361623D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0C6303-F646-47BA-923B-D342E765BCA9}" type="slidenum">
              <a:rPr lang="en-US" smtClean="0"/>
              <a:t>‹#›</a:t>
            </a:fld>
            <a:endParaRPr lang="en-US"/>
          </a:p>
        </p:txBody>
      </p:sp>
    </p:spTree>
    <p:extLst>
      <p:ext uri="{BB962C8B-B14F-4D97-AF65-F5344CB8AC3E}">
        <p14:creationId xmlns:p14="http://schemas.microsoft.com/office/powerpoint/2010/main" val="962713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EFC60729-5785-4AE5-AAF9-D078361623D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0C6303-F646-47BA-923B-D342E765BCA9}" type="slidenum">
              <a:rPr lang="en-US" smtClean="0"/>
              <a:t>‹#›</a:t>
            </a:fld>
            <a:endParaRPr lang="en-US"/>
          </a:p>
        </p:txBody>
      </p:sp>
    </p:spTree>
    <p:extLst>
      <p:ext uri="{BB962C8B-B14F-4D97-AF65-F5344CB8AC3E}">
        <p14:creationId xmlns:p14="http://schemas.microsoft.com/office/powerpoint/2010/main" val="4022099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FC60729-5785-4AE5-AAF9-D078361623D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0C6303-F646-47BA-923B-D342E765BCA9}" type="slidenum">
              <a:rPr lang="en-US" smtClean="0"/>
              <a:t>‹#›</a:t>
            </a:fld>
            <a:endParaRPr lang="en-US"/>
          </a:p>
        </p:txBody>
      </p:sp>
    </p:spTree>
    <p:extLst>
      <p:ext uri="{BB962C8B-B14F-4D97-AF65-F5344CB8AC3E}">
        <p14:creationId xmlns:p14="http://schemas.microsoft.com/office/powerpoint/2010/main" val="2940674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FC60729-5785-4AE5-AAF9-D078361623D5}"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0C6303-F646-47BA-923B-D342E765BCA9}" type="slidenum">
              <a:rPr lang="en-US" smtClean="0"/>
              <a:t>‹#›</a:t>
            </a:fld>
            <a:endParaRPr lang="en-US"/>
          </a:p>
        </p:txBody>
      </p:sp>
    </p:spTree>
    <p:extLst>
      <p:ext uri="{BB962C8B-B14F-4D97-AF65-F5344CB8AC3E}">
        <p14:creationId xmlns:p14="http://schemas.microsoft.com/office/powerpoint/2010/main" val="3285295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FC60729-5785-4AE5-AAF9-D078361623D5}" type="datetimeFigureOut">
              <a:rPr lang="en-US" smtClean="0"/>
              <a:t>12/12/2025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0C6303-F646-47BA-923B-D342E765BCA9}" type="slidenum">
              <a:rPr lang="en-US" smtClean="0"/>
              <a:t>‹#›</a:t>
            </a:fld>
            <a:endParaRPr lang="en-US"/>
          </a:p>
        </p:txBody>
      </p:sp>
    </p:spTree>
    <p:extLst>
      <p:ext uri="{BB962C8B-B14F-4D97-AF65-F5344CB8AC3E}">
        <p14:creationId xmlns:p14="http://schemas.microsoft.com/office/powerpoint/2010/main" val="3978573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EFC60729-5785-4AE5-AAF9-D078361623D5}" type="datetimeFigureOut">
              <a:rPr lang="en-US" smtClean="0"/>
              <a:t>12/12/2025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080C6303-F646-47BA-923B-D342E765BCA9}" type="slidenum">
              <a:rPr lang="en-US" smtClean="0"/>
              <a:t>‹#›</a:t>
            </a:fld>
            <a:endParaRPr lang="en-US"/>
          </a:p>
        </p:txBody>
      </p:sp>
    </p:spTree>
    <p:extLst>
      <p:ext uri="{BB962C8B-B14F-4D97-AF65-F5344CB8AC3E}">
        <p14:creationId xmlns:p14="http://schemas.microsoft.com/office/powerpoint/2010/main" val="987833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FC60729-5785-4AE5-AAF9-D078361623D5}" type="datetimeFigureOut">
              <a:rPr lang="en-US" smtClean="0"/>
              <a:t>12/12/2025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080C6303-F646-47BA-923B-D342E765BCA9}" type="slidenum">
              <a:rPr lang="en-US" smtClean="0"/>
              <a:t>‹#›</a:t>
            </a:fld>
            <a:endParaRPr lang="en-US"/>
          </a:p>
        </p:txBody>
      </p:sp>
    </p:spTree>
    <p:extLst>
      <p:ext uri="{BB962C8B-B14F-4D97-AF65-F5344CB8AC3E}">
        <p14:creationId xmlns:p14="http://schemas.microsoft.com/office/powerpoint/2010/main" val="3963906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EFC60729-5785-4AE5-AAF9-D078361623D5}" type="datetimeFigureOut">
              <a:rPr lang="en-US" smtClean="0"/>
              <a:t>12/12/2025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080C6303-F646-47BA-923B-D342E765BCA9}" type="slidenum">
              <a:rPr lang="en-US" smtClean="0"/>
              <a:t>‹#›</a:t>
            </a:fld>
            <a:endParaRPr lang="en-US"/>
          </a:p>
        </p:txBody>
      </p:sp>
    </p:spTree>
    <p:extLst>
      <p:ext uri="{BB962C8B-B14F-4D97-AF65-F5344CB8AC3E}">
        <p14:creationId xmlns:p14="http://schemas.microsoft.com/office/powerpoint/2010/main" val="3834086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FC60729-5785-4AE5-AAF9-D078361623D5}"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0C6303-F646-47BA-923B-D342E765BCA9}" type="slidenum">
              <a:rPr lang="en-US" smtClean="0"/>
              <a:t>‹#›</a:t>
            </a:fld>
            <a:endParaRPr lang="en-US"/>
          </a:p>
        </p:txBody>
      </p:sp>
    </p:spTree>
    <p:extLst>
      <p:ext uri="{BB962C8B-B14F-4D97-AF65-F5344CB8AC3E}">
        <p14:creationId xmlns:p14="http://schemas.microsoft.com/office/powerpoint/2010/main" val="818750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FC60729-5785-4AE5-AAF9-D078361623D5}"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0C6303-F646-47BA-923B-D342E765BCA9}" type="slidenum">
              <a:rPr lang="en-US" smtClean="0"/>
              <a:t>‹#›</a:t>
            </a:fld>
            <a:endParaRPr lang="en-US"/>
          </a:p>
        </p:txBody>
      </p:sp>
    </p:spTree>
    <p:extLst>
      <p:ext uri="{BB962C8B-B14F-4D97-AF65-F5344CB8AC3E}">
        <p14:creationId xmlns:p14="http://schemas.microsoft.com/office/powerpoint/2010/main" val="828977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FC60729-5785-4AE5-AAF9-D078361623D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0C6303-F646-47BA-923B-D342E765BCA9}" type="slidenum">
              <a:rPr lang="en-US" smtClean="0"/>
              <a:t>‹#›</a:t>
            </a:fld>
            <a:endParaRPr lang="en-US"/>
          </a:p>
        </p:txBody>
      </p:sp>
    </p:spTree>
    <p:extLst>
      <p:ext uri="{BB962C8B-B14F-4D97-AF65-F5344CB8AC3E}">
        <p14:creationId xmlns:p14="http://schemas.microsoft.com/office/powerpoint/2010/main" val="42106513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FC60729-5785-4AE5-AAF9-D078361623D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0C6303-F646-47BA-923B-D342E765BCA9}"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8196108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FC60729-5785-4AE5-AAF9-D078361623D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0C6303-F646-47BA-923B-D342E765BCA9}" type="slidenum">
              <a:rPr lang="en-US" smtClean="0"/>
              <a:t>‹#›</a:t>
            </a:fld>
            <a:endParaRPr lang="en-US"/>
          </a:p>
        </p:txBody>
      </p:sp>
    </p:spTree>
    <p:extLst>
      <p:ext uri="{BB962C8B-B14F-4D97-AF65-F5344CB8AC3E}">
        <p14:creationId xmlns:p14="http://schemas.microsoft.com/office/powerpoint/2010/main" val="3211257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FC60729-5785-4AE5-AAF9-D078361623D5}" type="datetimeFigureOut">
              <a:rPr lang="en-US" smtClean="0"/>
              <a:t>12/12/2025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0C6303-F646-47BA-923B-D342E765BCA9}" type="slidenum">
              <a:rPr lang="en-US" smtClean="0"/>
              <a:t>‹#›</a:t>
            </a:fld>
            <a:endParaRPr lang="en-US"/>
          </a:p>
        </p:txBody>
      </p:sp>
    </p:spTree>
    <p:extLst>
      <p:ext uri="{BB962C8B-B14F-4D97-AF65-F5344CB8AC3E}">
        <p14:creationId xmlns:p14="http://schemas.microsoft.com/office/powerpoint/2010/main" val="7898344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FC60729-5785-4AE5-AAF9-D078361623D5}" type="datetimeFigureOut">
              <a:rPr lang="en-US" smtClean="0"/>
              <a:t>12/12/2025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0C6303-F646-47BA-923B-D342E765BCA9}" type="slidenum">
              <a:rPr lang="en-US" smtClean="0"/>
              <a:t>‹#›</a:t>
            </a:fld>
            <a:endParaRPr lang="en-US"/>
          </a:p>
        </p:txBody>
      </p:sp>
    </p:spTree>
    <p:extLst>
      <p:ext uri="{BB962C8B-B14F-4D97-AF65-F5344CB8AC3E}">
        <p14:creationId xmlns:p14="http://schemas.microsoft.com/office/powerpoint/2010/main" val="4141893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FC60729-5785-4AE5-AAF9-D078361623D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0C6303-F646-47BA-923B-D342E765BCA9}" type="slidenum">
              <a:rPr lang="en-US" smtClean="0"/>
              <a:t>‹#›</a:t>
            </a:fld>
            <a:endParaRPr lang="en-US"/>
          </a:p>
        </p:txBody>
      </p:sp>
    </p:spTree>
    <p:extLst>
      <p:ext uri="{BB962C8B-B14F-4D97-AF65-F5344CB8AC3E}">
        <p14:creationId xmlns:p14="http://schemas.microsoft.com/office/powerpoint/2010/main" val="27599766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FC60729-5785-4AE5-AAF9-D078361623D5}"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0C6303-F646-47BA-923B-D342E765BCA9}" type="slidenum">
              <a:rPr lang="en-US" smtClean="0"/>
              <a:t>‹#›</a:t>
            </a:fld>
            <a:endParaRPr lang="en-US"/>
          </a:p>
        </p:txBody>
      </p:sp>
    </p:spTree>
    <p:extLst>
      <p:ext uri="{BB962C8B-B14F-4D97-AF65-F5344CB8AC3E}">
        <p14:creationId xmlns:p14="http://schemas.microsoft.com/office/powerpoint/2010/main" val="2038369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FC60729-5785-4AE5-AAF9-D078361623D5}" type="datetimeFigureOut">
              <a:rPr lang="en-US" smtClean="0"/>
              <a:t>12/12/2025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80C6303-F646-47BA-923B-D342E765BCA9}" type="slidenum">
              <a:rPr lang="en-US" smtClean="0"/>
              <a:t>‹#›</a:t>
            </a:fld>
            <a:endParaRPr lang="en-US"/>
          </a:p>
        </p:txBody>
      </p:sp>
    </p:spTree>
    <p:extLst>
      <p:ext uri="{BB962C8B-B14F-4D97-AF65-F5344CB8AC3E}">
        <p14:creationId xmlns:p14="http://schemas.microsoft.com/office/powerpoint/2010/main" val="336926244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google.com/search?q=3D+NAND+stacking&amp;oq=Advances+in+solid-state+drives+(SSDs)+technology&amp;gs_lcrp=EgZjaHJvbWUyBggAEEUYOTIKCAEQABiABBiiBDIHCAIQABjvBTIKCAMQABiABBiiBDIKCAQQABiABBiiBDIKCAUQABiABBiiBNIBBzQ2NWowajeoAgCwAgA&amp;sourceid=chrome&amp;ie=UTF-8&amp;mstk=AUtExfAgXWQ47T71oC_bB4-J92fgt6eDOzTWyFgwNj4wL91DSBQfoxkl8OsObxT6Cp_XX25Qoqlrkp683fn_FLMVbN4kMVJF-wwx9_4wVC-F_PJAa5scjhT0ADH-9Yc9v-lndZIVRxqKJyrfE3u4RGmGSCivkKfXJ7BntWFz_ryGKXM-sZs&amp;csui=3&amp;ved=2ahUKEwjs2pikvLWRAxUFSGwGHciUKAMQgK4QegQIARAF" TargetMode="External"/><Relationship Id="rId2" Type="http://schemas.openxmlformats.org/officeDocument/2006/relationships/hyperlink" Target="https://www.google.com/search?q=NVMe/PCIe+interfaces&amp;oq=Advances+in+solid-state+drives+(SSDs)+technology&amp;gs_lcrp=EgZjaHJvbWUyBggAEEUYOTIKCAEQABiABBiiBDIHCAIQABjvBTIKCAMQABiABBiiBDIKCAQQABiABBiiBDIKCAUQABiABBiiBNIBBzQ2NWowajeoAgCwAgA&amp;sourceid=chrome&amp;ie=UTF-8&amp;mstk=AUtExfAgXWQ47T71oC_bB4-J92fgt6eDOzTWyFgwNj4wL91DSBQfoxkl8OsObxT6Cp_XX25Qoqlrkp683fn_FLMVbN4kMVJF-wwx9_4wVC-F_PJAa5scjhT0ADH-9Yc9v-lndZIVRxqKJyrfE3u4RGmGSCivkKfXJ7BntWFz_ryGKXM-sZs&amp;csui=3&amp;ved=2ahUKEwjs2pikvLWRAxUFSGwGHciUKAMQgK4QegQIARAE" TargetMode="External"/><Relationship Id="rId1" Type="http://schemas.openxmlformats.org/officeDocument/2006/relationships/slideLayout" Target="../slideLayouts/slideLayout2.xml"/><Relationship Id="rId6" Type="http://schemas.openxmlformats.org/officeDocument/2006/relationships/hyperlink" Target="https://www.google.com/search?q=NAND+Flash+Technology&amp;oq=Advances+in+solid-state+drives+(SSDs)+technology&amp;gs_lcrp=EgZjaHJvbWUyBggAEEUYOTIKCAEQABiABBiiBDIHCAIQABjvBTIKCAMQABiABBiiBDIKCAQQABiABBiiBDIKCAUQABiABBiiBNIBBzQ2NWowajeoAgCwAgA&amp;sourceid=chrome&amp;ie=UTF-8&amp;mstk=AUtExfAgXWQ47T71oC_bB4-J92fgt6eDOzTWyFgwNj4wL91DSBQfoxkl8OsObxT6Cp_XX25Qoqlrkp683fn_FLMVbN4kMVJF-wwx9_4wVC-F_PJAa5scjhT0ADH-9Yc9v-lndZIVRxqKJyrfE3u4RGmGSCivkKfXJ7BntWFz_ryGKXM-sZs&amp;csui=3&amp;ved=2ahUKEwjs2pikvLWRAxUFSGwGHciUKAMQgK4QegQIBRAB" TargetMode="External"/><Relationship Id="rId5" Type="http://schemas.openxmlformats.org/officeDocument/2006/relationships/hyperlink" Target="https://www.google.com/search?q=ZNS&amp;oq=Advances+in+solid-state+drives+(SSDs)+technology&amp;gs_lcrp=EgZjaHJvbWUyBggAEEUYOTIKCAEQABiABBiiBDIHCAIQABjvBTIKCAMQABiABBiiBDIKCAQQABiABBiiBDIKCAUQABiABBiiBNIBBzQ2NWowajeoAgCwAgA&amp;sourceid=chrome&amp;ie=UTF-8&amp;mstk=AUtExfAgXWQ47T71oC_bB4-J92fgt6eDOzTWyFgwNj4wL91DSBQfoxkl8OsObxT6Cp_XX25Qoqlrkp683fn_FLMVbN4kMVJF-wwx9_4wVC-F_PJAa5scjhT0ADH-9Yc9v-lndZIVRxqKJyrfE3u4RGmGSCivkKfXJ7BntWFz_ryGKXM-sZs&amp;csui=3&amp;ved=2ahUKEwjs2pikvLWRAxUFSGwGHciUKAMQgK4QegQIARAH" TargetMode="External"/><Relationship Id="rId4" Type="http://schemas.openxmlformats.org/officeDocument/2006/relationships/hyperlink" Target="https://www.google.com/search?q=Computational+Storage&amp;oq=Advances+in+solid-state+drives+(SSDs)+technology&amp;gs_lcrp=EgZjaHJvbWUyBggAEEUYOTIKCAEQABiABBiiBDIHCAIQABjvBTIKCAMQABiABBiiBDIKCAQQABiABBiiBDIKCAUQABiABBiiBNIBBzQ2NWowajeoAgCwAgA&amp;sourceid=chrome&amp;ie=UTF-8&amp;mstk=AUtExfAgXWQ47T71oC_bB4-J92fgt6eDOzTWyFgwNj4wL91DSBQfoxkl8OsObxT6Cp_XX25Qoqlrkp683fn_FLMVbN4kMVJF-wwx9_4wVC-F_PJAa5scjhT0ADH-9Yc9v-lndZIVRxqKJyrfE3u4RGmGSCivkKfXJ7BntWFz_ryGKXM-sZs&amp;csui=3&amp;ved=2ahUKEwjs2pikvLWRAxUFSGwGHciUKAMQgK4QegQIARAG"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google.com/search?q=data+prefetching&amp;oq=Memory+hierarchy+optimization+techniques.&amp;gs_lcrp=EgZjaHJvbWUyBggAEEUYOTIHCAEQIRigATIHCAIQIRigATIHCAMQIRiPAjIHCAQQIRiPAtIBBzQ0M2owajeoAgCwAgA&amp;sourceid=chrome&amp;ie=UTF-8&amp;mstk=AUtExfBkoeC1DHB0PKnYZwnZQ0ZrQGyvLR6npWoZQaRzxUjrrb-vjGhIxYt9f0dXfB76lbEWUx_fFNW_x9QqsqfyVEyEDvlyyhuRcyiW3SdzRBBABfWs59zZFLSTTk7lr57P9kdE8eO03lwKxCU9_y6FpiIERZMKQRqWinQmm61DJnKqsdehGXZy03yFTzEBrTwKzUly&amp;csui=3&amp;ved=2ahUKEwipk5eN-7WRAxVCSGwGHcRUH3oQgK4QegQIARAF" TargetMode="External"/><Relationship Id="rId2" Type="http://schemas.openxmlformats.org/officeDocument/2006/relationships/hyperlink" Target="https://www.google.com/search?q=loop+tiling/interchange&amp;oq=Memory+hierarchy+optimization+techniques.&amp;gs_lcrp=EgZjaHJvbWUyBggAEEUYOTIHCAEQIRigATIHCAIQIRigATIHCAMQIRiPAjIHCAQQIRiPAtIBBzQ0M2owajeoAgCwAgA&amp;sourceid=chrome&amp;ie=UTF-8&amp;mstk=AUtExfBkoeC1DHB0PKnYZwnZQ0ZrQGyvLR6npWoZQaRzxUjrrb-vjGhIxYt9f0dXfB76lbEWUx_fFNW_x9QqsqfyVEyEDvlyyhuRcyiW3SdzRBBABfWs59zZFLSTTk7lr57P9kdE8eO03lwKxCU9_y6FpiIERZMKQRqWinQmm61DJnKqsdehGXZy03yFTzEBrTwKzUly&amp;csui=3&amp;ved=2ahUKEwipk5eN-7WRAxVCSGwGHcRUH3oQgK4QegQIARAE" TargetMode="External"/><Relationship Id="rId1" Type="http://schemas.openxmlformats.org/officeDocument/2006/relationships/slideLayout" Target="../slideLayouts/slideLayout2.xml"/><Relationship Id="rId4" Type="http://schemas.openxmlformats.org/officeDocument/2006/relationships/hyperlink" Target="https://www.google.com/search?q=cache-conscious+data+structures&amp;oq=Memory+hierarchy+optimization+techniques.&amp;gs_lcrp=EgZjaHJvbWUyBggAEEUYOTIHCAEQIRigATIHCAIQIRigATIHCAMQIRiPAjIHCAQQIRiPAtIBBzQ0M2owajeoAgCwAgA&amp;sourceid=chrome&amp;ie=UTF-8&amp;mstk=AUtExfBkoeC1DHB0PKnYZwnZQ0ZrQGyvLR6npWoZQaRzxUjrrb-vjGhIxYt9f0dXfB76lbEWUx_fFNW_x9QqsqfyVEyEDvlyyhuRcyiW3SdzRBBABfWs59zZFLSTTk7lr57P9kdE8eO03lwKxCU9_y6FpiIERZMKQRqWinQmm61DJnKqsdehGXZy03yFTzEBrTwKzUly&amp;csui=3&amp;ved=2ahUKEwipk5eN-7WRAxVCSGwGHcRUH3oQgK4QegQIARAG"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google.com/search?q=DMA&amp;oq=communication+between+cpu+memory+and+&amp;gs_lcrp=EgZjaHJvbWUqCAgBEAAYFhgeMgYIABBFGDkyCAgBEAAYFhgeMggIAhAAGBYYHjIICAMQABgWGB4yCAgEEAAYFhgeMggIBRAAGBYYHjIICAYQABgWGB4yCAgHEAAYFhgeMggICBAAGBYYHjIICAkQABgWGB7SAQg4NDM4ajBqN6gCALACAA&amp;sourceid=chrome&amp;ie=UTF-8&amp;mstk=AUtExfCHA7lUGDRtSO1ifxUIhVJvHXqdipiLSQB575GlR_4MI6K3S1bqDTnhAlRWePtCgvkSF5yGIZKwTNJHSrEFCqmbKv70QsAgP4Io85y2TmVrf8Mr2_H7zxLTwZRsVq3miNp3YQRqU7vSAWBsR-5zQJT2uzNinElc7uZo6EoKkRqmPfGsTFYZipprinIcJhyZZ-Er&amp;csui=3&amp;ved=2ahUKEwi-lN2ugraRAxVhumMGHehLB-QQgK4QegQIBhAE"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google.com/search?q=multi-core+CPU&amp;sca_esv=8c1d8b7610d1bcd4&amp;ei=yQA7abmcDN2X4-EPjeeWsAc&amp;oq=multi+core+processor+vs+gpus&amp;gs_lp=Egxnd3Mtd2l6LXNlcnAiHG11bHRpIGNvcmUgcHJvY2Vzc29yIHZzIGdwdXMqAggAMgYQABgWGB4yCBAAGIAEGKIEMggQABiABBiiBDIFEAAY7wUyCBAAGIAEGKIEMggQABiABBiiBEiDLFD6Elj8G3ABeAGQAQCYAdEBoAGVBqoBBTAuMi4yuAEDyAEA-AEBmAIFoAKzBsICChAAGLADGNYEGEfCAgsQABiABBiGAxiKBZgDAIgGAZAGCJIHBTEuMi4yoAeUE7IHBTAuMi4yuAeqBsIHBTAuMS40yAcWgAgA&amp;sclient=gws-wiz-serp&amp;mstk=AUtExfDA8UL-2XBW_Td7B3bOf6hLiVciTKMquV82uNBo-0l3nFNbfdPBMfidfJTqeYqZjbcMZEWRcDyfUCXOgiCxkH7NStnODHzvZwUa8EWcJrTzU7c2CPnupFuXx-Z9dl76qYcs2JSomALyv9wxeFOVgcDzN2VFLdEIY3L3kj2OpfbazzgGRjN0hzEnR-6QV0_EmBdx&amp;csui=3&amp;ved=2ahUKEwj02LqmibaRAxXKTWwGHcB9DNoQgK4QegQIARAC" TargetMode="External"/><Relationship Id="rId2" Type="http://schemas.openxmlformats.org/officeDocument/2006/relationships/hyperlink" Target="https://www.google.com/search?q=Parallel+computing&amp;sca_esv=8c1d8b7610d1bcd4&amp;ei=efw6afPpO7C74-EPp-fx8AE&amp;oq=parallel&amp;gs_lp=Egxnd3Mtd2l6LXNlcnAiCHBhcmFsbGVsKgIIADIOEAAYgAQYkQIYsQMYigUyFhAuGIAEGLEDGNEDGEMYgwEYxwEYigUyChAAGIAEGEMYigUyEBAAGIAEGLEDGEMYgwEYigUyChAAGIAEGEMYigUyCxAAGIAEGJECGIoFMgsQABiABBiRAhiKBTILEAAYgAQYkQIYigUyCxAAGIAEGJECGIoFMggQABiABBixA0jHJVDwBlisHnABeAGQAQCYAdUBoAHoC6oBBTAuNS4zuAEDyAEA-AEBmAIJoAKjDKgCCsICFxAAGIAEGJECGLQCGOcGGIoFGOoC2AEBwgIQEAAYAxi0AhjqAhiPAdgBAcICEBAuGAMYtAIY6gIYjwHYAQHCAgsQABiABBixAxiDAcICDhAuGIAEGLEDGNEDGMcBwgIFEC4YgATCAgoQLhiABBhDGIoFwgINEAAYgAQYsQMYQxiKBcICCBAuGIAEGLEDwgIFEAAYgASYAwfxBUOBRp4DDZPWugYECAEYB5IHBTEuNS4zoAfIQrIHBTAuNS4zuAebDMIHAzItOcgHLYAIAA&amp;sclient=gws-wiz-serp&amp;ved=2ahUKEwjx_8nWiLaRAxVRw6ACHRJ5IVQQgK4QegYIAQgAEAU" TargetMode="External"/><Relationship Id="rId1" Type="http://schemas.openxmlformats.org/officeDocument/2006/relationships/slideLayout" Target="../slideLayouts/slideLayout2.xml"/><Relationship Id="rId4" Type="http://schemas.openxmlformats.org/officeDocument/2006/relationships/hyperlink" Target="https://www.google.com/search?q=GPU&amp;sca_esv=8c1d8b7610d1bcd4&amp;ei=yQA7abmcDN2X4-EPjeeWsAc&amp;oq=multi+core+processor+vs+gpus&amp;gs_lp=Egxnd3Mtd2l6LXNlcnAiHG11bHRpIGNvcmUgcHJvY2Vzc29yIHZzIGdwdXMqAggAMgYQABgWGB4yCBAAGIAEGKIEMggQABiABBiiBDIFEAAY7wUyCBAAGIAEGKIEMggQABiABBiiBEiDLFD6Elj8G3ABeAGQAQCYAdEBoAGVBqoBBTAuMi4yuAEDyAEA-AEBmAIFoAKzBsICChAAGLADGNYEGEfCAgsQABiABBiGAxiKBZgDAIgGAZAGCJIHBTEuMi4yoAeUE7IHBTAuMi4yuAeqBsIHBTAuMS40yAcWgAgA&amp;sclient=gws-wiz-serp&amp;mstk=AUtExfDA8UL-2XBW_Td7B3bOf6hLiVciTKMquV82uNBo-0l3nFNbfdPBMfidfJTqeYqZjbcMZEWRcDyfUCXOgiCxkH7NStnODHzvZwUa8EWcJrTzU7c2CPnupFuXx-Z9dl76qYcs2JSomALyv9wxeFOVgcDzN2VFLdEIY3L3kj2OpfbazzgGRjN0hzEnR-6QV0_EmBdx&amp;csui=3&amp;ved=2ahUKEwj02LqmibaRAxXKTWwGHcB9DNoQgK4QegQIARAD" TargetMode="External"/></Relationships>
</file>

<file path=ppt/slides/_rels/slide30.xml.rels><?xml version="1.0" encoding="UTF-8" standalone="yes"?>
<Relationships xmlns="http://schemas.openxmlformats.org/package/2006/relationships"><Relationship Id="rId2" Type="http://schemas.openxmlformats.org/officeDocument/2006/relationships/hyperlink" Target="https://www.google.com/search?q=Amdahl's+Law&amp;oq=challenges+in+parallel+programming+vs+synch&amp;gs_lcrp=EgZjaHJvbWUqBwgBECEYoAEyBggAEEUYOTIHCAEQIRigATIHCAIQIRigATIHCAMQIRifBTIHCAQQIRifBTIHCAUQIRifBTIHCAYQIRiPAjIHCAcQIRiPAtIBCTEzMzE5ajBqN6gCALACAA&amp;sourceid=chrome&amp;ie=UTF-8&amp;mstk=AUtExfDeIDphSHUkuoIONSkbyhhFIHiAgFY2yD_b7iqM4vRqRmmGaIcvUqLGyNBfHjKiAiekCFbPmWnG7IaI_Cc5jK8ODC79O0DxTvxG1RZ312iDD01DEXxmav0eKVAhZ4qj3zb43jGFy_9lrWK6rMu8gfWsyfJ3ZK0xRYpiTTKk7VmTTEVkEoAcV0WdyJqmDjLZvQqM&amp;csui=3&amp;ved=2ahUKEwiD5YavjbaRAxVXklYBHViVBCAQgK4QegQIARAC"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COMPUTER ARCHITECTURE</a:t>
            </a:r>
            <a:endParaRPr lang="en-US" dirty="0"/>
          </a:p>
        </p:txBody>
      </p:sp>
    </p:spTree>
    <p:extLst>
      <p:ext uri="{BB962C8B-B14F-4D97-AF65-F5344CB8AC3E}">
        <p14:creationId xmlns:p14="http://schemas.microsoft.com/office/powerpoint/2010/main" val="2927287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500" dirty="0" smtClean="0"/>
              <a:t>Introduction to Computer Architecture</a:t>
            </a:r>
            <a:endParaRPr lang="en-US" sz="3500" dirty="0"/>
          </a:p>
        </p:txBody>
      </p:sp>
      <p:sp>
        <p:nvSpPr>
          <p:cNvPr id="3" name="Content Placeholder 2"/>
          <p:cNvSpPr>
            <a:spLocks noGrp="1"/>
          </p:cNvSpPr>
          <p:nvPr>
            <p:ph idx="1"/>
          </p:nvPr>
        </p:nvSpPr>
        <p:spPr>
          <a:xfrm>
            <a:off x="1104293" y="1276169"/>
            <a:ext cx="8946541" cy="4195481"/>
          </a:xfrm>
        </p:spPr>
        <p:txBody>
          <a:bodyPr/>
          <a:lstStyle/>
          <a:p>
            <a:pPr fontAlgn="base"/>
            <a:r>
              <a:rPr lang="en-US" dirty="0"/>
              <a:t>Computer architecture defines how a computer’s components communicate through electronic signals to perform input, processing, and output operations.</a:t>
            </a:r>
          </a:p>
          <a:p>
            <a:pPr fontAlgn="base"/>
            <a:r>
              <a:rPr lang="en-US" dirty="0"/>
              <a:t>It covers the design and organization of the CPU, memory, storage, and input/output devices.</a:t>
            </a:r>
          </a:p>
          <a:p>
            <a:pPr fontAlgn="base"/>
            <a:r>
              <a:rPr lang="en-US" dirty="0"/>
              <a:t>Describes how these components interact through buses, control signals, and data pathways.</a:t>
            </a:r>
          </a:p>
          <a:p>
            <a:pPr fontAlgn="base"/>
            <a:r>
              <a:rPr lang="en-US" dirty="0"/>
              <a:t>It directly influences the overall speed, functionality, and reliability of a computer system.</a:t>
            </a:r>
          </a:p>
          <a:p>
            <a:endParaRPr lang="en-US" dirty="0"/>
          </a:p>
        </p:txBody>
      </p:sp>
    </p:spTree>
    <p:extLst>
      <p:ext uri="{BB962C8B-B14F-4D97-AF65-F5344CB8AC3E}">
        <p14:creationId xmlns:p14="http://schemas.microsoft.com/office/powerpoint/2010/main" val="3585070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19621" y="1187679"/>
            <a:ext cx="8946541" cy="4195481"/>
          </a:xfrm>
        </p:spPr>
        <p:txBody>
          <a:bodyPr/>
          <a:lstStyle/>
          <a:p>
            <a:r>
              <a:rPr lang="en-US" dirty="0"/>
              <a:t>Key Components</a:t>
            </a:r>
          </a:p>
          <a:p>
            <a:r>
              <a:rPr lang="en-US" dirty="0"/>
              <a:t>Instruction Set Architecture (ISA): The programmer's view, defining instructions, registers, data types, and memory addressing.</a:t>
            </a:r>
          </a:p>
          <a:p>
            <a:r>
              <a:rPr lang="en-US" dirty="0"/>
              <a:t>CPU (Central Processing Unit): The brain, handling execution; its organization (ALU, registers, control unit) is key.</a:t>
            </a:r>
          </a:p>
          <a:p>
            <a:r>
              <a:rPr lang="en-US" dirty="0"/>
              <a:t>Memory: Stores data and instructions (RAM, cache, registers).</a:t>
            </a:r>
          </a:p>
          <a:p>
            <a:r>
              <a:rPr lang="en-US" dirty="0" err="1"/>
              <a:t>Input/Output</a:t>
            </a:r>
            <a:r>
              <a:rPr lang="en-US" dirty="0"/>
              <a:t> (I/O) Subsystems: How the computer communicates with the outside world (keyboard, screen, storage).</a:t>
            </a:r>
          </a:p>
          <a:p>
            <a:r>
              <a:rPr lang="en-US" dirty="0"/>
              <a:t>Buses &amp; Interconnects: Pathways for data and control signals between components. </a:t>
            </a:r>
          </a:p>
        </p:txBody>
      </p:sp>
    </p:spTree>
    <p:extLst>
      <p:ext uri="{BB962C8B-B14F-4D97-AF65-F5344CB8AC3E}">
        <p14:creationId xmlns:p14="http://schemas.microsoft.com/office/powerpoint/2010/main" val="2684806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33054"/>
            <a:ext cx="9404723" cy="1400530"/>
          </a:xfrm>
        </p:spPr>
        <p:txBody>
          <a:bodyPr/>
          <a:lstStyle/>
          <a:p>
            <a:pPr algn="ctr"/>
            <a:r>
              <a:rPr lang="en-US" sz="3500" dirty="0"/>
              <a:t>Importance in software development.</a:t>
            </a:r>
          </a:p>
        </p:txBody>
      </p:sp>
      <p:sp>
        <p:nvSpPr>
          <p:cNvPr id="3" name="Content Placeholder 2"/>
          <p:cNvSpPr>
            <a:spLocks noGrp="1"/>
          </p:cNvSpPr>
          <p:nvPr>
            <p:ph idx="1"/>
          </p:nvPr>
        </p:nvSpPr>
        <p:spPr>
          <a:xfrm>
            <a:off x="1270461" y="1551473"/>
            <a:ext cx="8946541" cy="4195481"/>
          </a:xfrm>
        </p:spPr>
        <p:txBody>
          <a:bodyPr/>
          <a:lstStyle/>
          <a:p>
            <a:r>
              <a:rPr lang="en-US" b="1" dirty="0"/>
              <a:t>1. Optimizing Code Performance: Knowing Your Machine Inside </a:t>
            </a:r>
            <a:r>
              <a:rPr lang="en-US" b="1" dirty="0" smtClean="0"/>
              <a:t>Out</a:t>
            </a:r>
          </a:p>
          <a:p>
            <a:r>
              <a:rPr lang="en-US" b="1" dirty="0"/>
              <a:t>2. Improved Debugging and Problem </a:t>
            </a:r>
            <a:r>
              <a:rPr lang="en-US" b="1" dirty="0" smtClean="0"/>
              <a:t>Solving</a:t>
            </a:r>
          </a:p>
          <a:p>
            <a:r>
              <a:rPr lang="en-US" b="1" dirty="0"/>
              <a:t>3. Mastering Low-Level Programming: More Control, More </a:t>
            </a:r>
            <a:r>
              <a:rPr lang="en-US" b="1" dirty="0" smtClean="0"/>
              <a:t>Possibilities</a:t>
            </a:r>
          </a:p>
          <a:p>
            <a:r>
              <a:rPr lang="en-US" b="1" dirty="0"/>
              <a:t>4. Leveraging Multi-Core Processors: Unlocking the Power of </a:t>
            </a:r>
            <a:r>
              <a:rPr lang="en-US" b="1" dirty="0" smtClean="0"/>
              <a:t>Parallelism</a:t>
            </a:r>
          </a:p>
          <a:p>
            <a:r>
              <a:rPr lang="en-US" b="1" dirty="0"/>
              <a:t>5. Building Portable and Flexible Code: Ensuring Compatibility Across Platforms</a:t>
            </a:r>
            <a:endParaRPr lang="en-US" dirty="0"/>
          </a:p>
        </p:txBody>
      </p:sp>
    </p:spTree>
    <p:extLst>
      <p:ext uri="{BB962C8B-B14F-4D97-AF65-F5344CB8AC3E}">
        <p14:creationId xmlns:p14="http://schemas.microsoft.com/office/powerpoint/2010/main" val="3049996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000" dirty="0"/>
              <a:t>Historical development of computer architectures</a:t>
            </a:r>
          </a:p>
        </p:txBody>
      </p:sp>
      <p:sp>
        <p:nvSpPr>
          <p:cNvPr id="3" name="Content Placeholder 2"/>
          <p:cNvSpPr>
            <a:spLocks noGrp="1"/>
          </p:cNvSpPr>
          <p:nvPr>
            <p:ph idx="1"/>
          </p:nvPr>
        </p:nvSpPr>
        <p:spPr>
          <a:xfrm>
            <a:off x="1034486" y="1472816"/>
            <a:ext cx="8946541" cy="4195481"/>
          </a:xfrm>
        </p:spPr>
        <p:txBody>
          <a:bodyPr>
            <a:noAutofit/>
          </a:bodyPr>
          <a:lstStyle/>
          <a:p>
            <a:pPr marL="0" indent="0">
              <a:buNone/>
            </a:pPr>
            <a:r>
              <a:rPr lang="en-US" dirty="0"/>
              <a:t>Precursors (1800s): Charles Babbage's Analytical Engine conceptualized programmable computation, while Ada Lovelace wrote early algorithms.</a:t>
            </a:r>
          </a:p>
          <a:p>
            <a:r>
              <a:rPr lang="en-US" dirty="0"/>
              <a:t>First Generation (1940s-1950s):</a:t>
            </a:r>
          </a:p>
          <a:p>
            <a:pPr marL="0" indent="0">
              <a:buNone/>
            </a:pPr>
            <a:r>
              <a:rPr lang="en-US" dirty="0" smtClean="0"/>
              <a:t>Tech</a:t>
            </a:r>
            <a:r>
              <a:rPr lang="en-US" dirty="0"/>
              <a:t>: Vacuum tubes (ENIAC, UNIVAC).</a:t>
            </a:r>
          </a:p>
          <a:p>
            <a:pPr marL="0" indent="0">
              <a:buNone/>
            </a:pPr>
            <a:r>
              <a:rPr lang="en-US" dirty="0"/>
              <a:t>Arch: Von Neumann Architecture (stored programs in memory) became foundational.</a:t>
            </a:r>
          </a:p>
          <a:p>
            <a:pPr marL="0" indent="0">
              <a:buNone/>
            </a:pPr>
            <a:r>
              <a:rPr lang="en-US" dirty="0"/>
              <a:t>Programs: Machine code, batch processing.</a:t>
            </a:r>
          </a:p>
          <a:p>
            <a:r>
              <a:rPr lang="en-US" dirty="0"/>
              <a:t>Second Generation (1950s-1960s):</a:t>
            </a:r>
          </a:p>
          <a:p>
            <a:pPr marL="0" indent="0">
              <a:buNone/>
            </a:pPr>
            <a:r>
              <a:rPr lang="en-US" dirty="0"/>
              <a:t>Tech: Transistors replaced tubes, making machines smaller, faster, and reliable.</a:t>
            </a:r>
          </a:p>
          <a:p>
            <a:pPr marL="0" indent="0">
              <a:buNone/>
            </a:pPr>
            <a:r>
              <a:rPr lang="en-US" dirty="0"/>
              <a:t>Programs: Assembly language, first high-level languages, early OS</a:t>
            </a:r>
            <a:r>
              <a:rPr lang="en-US" dirty="0" smtClean="0"/>
              <a:t>.</a:t>
            </a:r>
            <a:endParaRPr lang="en-US" dirty="0"/>
          </a:p>
        </p:txBody>
      </p:sp>
    </p:spTree>
    <p:extLst>
      <p:ext uri="{BB962C8B-B14F-4D97-AF65-F5344CB8AC3E}">
        <p14:creationId xmlns:p14="http://schemas.microsoft.com/office/powerpoint/2010/main" val="230092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32808" y="843550"/>
            <a:ext cx="8946541" cy="4195481"/>
          </a:xfrm>
        </p:spPr>
        <p:txBody>
          <a:bodyPr/>
          <a:lstStyle/>
          <a:p>
            <a:r>
              <a:rPr lang="en-US" dirty="0"/>
              <a:t>Third Generation (1960s-1970s):</a:t>
            </a:r>
          </a:p>
          <a:p>
            <a:r>
              <a:rPr lang="en-US" dirty="0"/>
              <a:t>Tech: Integrated Circuits (ICs) combined many transistors on a chip (SSI, MSI).</a:t>
            </a:r>
          </a:p>
          <a:p>
            <a:r>
              <a:rPr lang="en-US" dirty="0"/>
              <a:t>Arch: Multiprogramming emerged.</a:t>
            </a:r>
          </a:p>
          <a:p>
            <a:r>
              <a:rPr lang="en-US" dirty="0"/>
              <a:t>Fourth Generation (1971-Present):</a:t>
            </a:r>
          </a:p>
          <a:p>
            <a:r>
              <a:rPr lang="en-US" dirty="0"/>
              <a:t>Tech: Microprocessors (CPU on one chip), VLSI/ULSI (millions of transistors).</a:t>
            </a:r>
          </a:p>
          <a:p>
            <a:r>
              <a:rPr lang="en-US" dirty="0"/>
              <a:t>Arch: Personal computers, RISC/CISC instruction sets, pipelining, caching, parallel processing (multicore, GPUs). </a:t>
            </a:r>
          </a:p>
        </p:txBody>
      </p:sp>
    </p:spTree>
    <p:extLst>
      <p:ext uri="{BB962C8B-B14F-4D97-AF65-F5344CB8AC3E}">
        <p14:creationId xmlns:p14="http://schemas.microsoft.com/office/powerpoint/2010/main" val="3397984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RISC vs. CISC </a:t>
            </a:r>
            <a:r>
              <a:rPr lang="en-US" dirty="0" smtClean="0"/>
              <a:t>architectures</a:t>
            </a:r>
            <a:endParaRPr lang="en-US" dirty="0"/>
          </a:p>
        </p:txBody>
      </p:sp>
      <p:sp>
        <p:nvSpPr>
          <p:cNvPr id="3" name="Content Placeholder 2"/>
          <p:cNvSpPr>
            <a:spLocks noGrp="1"/>
          </p:cNvSpPr>
          <p:nvPr>
            <p:ph idx="1"/>
          </p:nvPr>
        </p:nvSpPr>
        <p:spPr>
          <a:xfrm>
            <a:off x="1104293" y="1853248"/>
            <a:ext cx="8946541" cy="4195481"/>
          </a:xfrm>
        </p:spPr>
        <p:txBody>
          <a:bodyPr>
            <a:normAutofit fontScale="92500" lnSpcReduction="20000"/>
          </a:bodyPr>
          <a:lstStyle/>
          <a:p>
            <a:pPr marL="0" indent="0" fontAlgn="base">
              <a:buNone/>
            </a:pPr>
            <a:r>
              <a:rPr lang="en-US" b="1" dirty="0"/>
              <a:t>Reduced Instruction Set Architecture (RISC)</a:t>
            </a:r>
          </a:p>
          <a:p>
            <a:pPr fontAlgn="base"/>
            <a:r>
              <a:rPr lang="en-US" dirty="0"/>
              <a:t>RISC simplifies processor design by using a small, uniform set of instructions. Each instruction performs a basic operation (e.g., load, compute, store) and is designed to execute in a single clock cycle, enabling efficient pipelining and simpler hardware.</a:t>
            </a:r>
          </a:p>
          <a:p>
            <a:pPr marL="0" indent="0" fontAlgn="base">
              <a:buNone/>
            </a:pPr>
            <a:r>
              <a:rPr lang="en-US" b="1" dirty="0"/>
              <a:t>Characteristics of RISC</a:t>
            </a:r>
          </a:p>
          <a:p>
            <a:pPr fontAlgn="base"/>
            <a:r>
              <a:rPr lang="en-US" dirty="0"/>
              <a:t>Simpler instruction, hence simple instruction decoding.</a:t>
            </a:r>
          </a:p>
          <a:p>
            <a:pPr fontAlgn="base"/>
            <a:r>
              <a:rPr lang="en-US" dirty="0"/>
              <a:t>Instruction comes in the form of one word.</a:t>
            </a:r>
          </a:p>
          <a:p>
            <a:pPr fontAlgn="base"/>
            <a:r>
              <a:rPr lang="en-US" dirty="0"/>
              <a:t>An instruction takes a single clock cycle to get executed.</a:t>
            </a:r>
          </a:p>
          <a:p>
            <a:pPr fontAlgn="base"/>
            <a:r>
              <a:rPr lang="en-US" dirty="0"/>
              <a:t>More general-purpose registers for register-to-register operations.</a:t>
            </a:r>
          </a:p>
          <a:p>
            <a:pPr fontAlgn="base"/>
            <a:r>
              <a:rPr lang="en-US" dirty="0"/>
              <a:t>Simple Addressing Modes.</a:t>
            </a:r>
          </a:p>
          <a:p>
            <a:pPr fontAlgn="base"/>
            <a:r>
              <a:rPr lang="en-US" dirty="0"/>
              <a:t>Optimized for pipelining due to uniform instruction size and simplicity.</a:t>
            </a:r>
          </a:p>
          <a:p>
            <a:endParaRPr lang="en-US" dirty="0"/>
          </a:p>
        </p:txBody>
      </p:sp>
    </p:spTree>
    <p:extLst>
      <p:ext uri="{BB962C8B-B14F-4D97-AF65-F5344CB8AC3E}">
        <p14:creationId xmlns:p14="http://schemas.microsoft.com/office/powerpoint/2010/main" val="3979581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9454" y="1305667"/>
            <a:ext cx="8946541" cy="4195481"/>
          </a:xfrm>
        </p:spPr>
        <p:txBody>
          <a:bodyPr>
            <a:normAutofit fontScale="92500" lnSpcReduction="10000"/>
          </a:bodyPr>
          <a:lstStyle/>
          <a:p>
            <a:pPr marL="0" indent="0" fontAlgn="base">
              <a:buNone/>
            </a:pPr>
            <a:r>
              <a:rPr lang="en-US" b="1" dirty="0"/>
              <a:t>Complex Instruction Set Architecture (CISC)</a:t>
            </a:r>
          </a:p>
          <a:p>
            <a:pPr fontAlgn="base"/>
            <a:r>
              <a:rPr lang="en-US" dirty="0"/>
              <a:t>CISC reduces the number of instructions a program needs by using a large set of complex, variable-length instructions. A single instruction can perform multiple operations (e.g., load, compute, and store), which may take multiple clock cycles.</a:t>
            </a:r>
          </a:p>
          <a:p>
            <a:pPr marL="0" indent="0" fontAlgn="base">
              <a:buNone/>
            </a:pPr>
            <a:r>
              <a:rPr lang="en-US" b="1" dirty="0"/>
              <a:t>Characteristics of CISC</a:t>
            </a:r>
          </a:p>
          <a:p>
            <a:pPr fontAlgn="base"/>
            <a:r>
              <a:rPr lang="en-US" dirty="0"/>
              <a:t>Complex instruction, hence complex instruction decoding.</a:t>
            </a:r>
          </a:p>
          <a:p>
            <a:pPr fontAlgn="base"/>
            <a:r>
              <a:rPr lang="en-US" dirty="0"/>
              <a:t>Instructions are larger than one-word size.</a:t>
            </a:r>
          </a:p>
          <a:p>
            <a:pPr fontAlgn="base"/>
            <a:r>
              <a:rPr lang="en-US" dirty="0"/>
              <a:t>Instruction may take more than a single clock cycle to get executed.</a:t>
            </a:r>
          </a:p>
          <a:p>
            <a:pPr fontAlgn="base"/>
            <a:r>
              <a:rPr lang="en-US" dirty="0"/>
              <a:t>Less number of general-purpose registers as operations get performed in memory itself.</a:t>
            </a:r>
          </a:p>
          <a:p>
            <a:pPr fontAlgn="base"/>
            <a:r>
              <a:rPr lang="en-US" dirty="0"/>
              <a:t>Complex Addressing Modes.</a:t>
            </a:r>
          </a:p>
        </p:txBody>
      </p:sp>
    </p:spTree>
    <p:extLst>
      <p:ext uri="{BB962C8B-B14F-4D97-AF65-F5344CB8AC3E}">
        <p14:creationId xmlns:p14="http://schemas.microsoft.com/office/powerpoint/2010/main" val="3156751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500" dirty="0"/>
              <a:t>Pipeline processing and superscalar</a:t>
            </a:r>
          </a:p>
        </p:txBody>
      </p:sp>
      <p:sp>
        <p:nvSpPr>
          <p:cNvPr id="3" name="Content Placeholder 2"/>
          <p:cNvSpPr>
            <a:spLocks noGrp="1"/>
          </p:cNvSpPr>
          <p:nvPr>
            <p:ph idx="1"/>
          </p:nvPr>
        </p:nvSpPr>
        <p:spPr>
          <a:xfrm>
            <a:off x="1104293" y="1443318"/>
            <a:ext cx="8946541" cy="4195481"/>
          </a:xfrm>
        </p:spPr>
        <p:txBody>
          <a:bodyPr/>
          <a:lstStyle/>
          <a:p>
            <a:r>
              <a:rPr lang="en-US" b="1" dirty="0"/>
              <a:t>Pipelining</a:t>
            </a:r>
            <a:r>
              <a:rPr lang="en-US" dirty="0"/>
              <a:t> and </a:t>
            </a:r>
            <a:r>
              <a:rPr lang="en-US" b="1" dirty="0"/>
              <a:t>superscalar </a:t>
            </a:r>
            <a:r>
              <a:rPr lang="en-US" dirty="0"/>
              <a:t>execution are CPU techniques to boost performance by overlapping instruction processing, but they differ: </a:t>
            </a:r>
            <a:r>
              <a:rPr lang="en-US" b="1" dirty="0"/>
              <a:t>Pipelining</a:t>
            </a:r>
            <a:r>
              <a:rPr lang="en-US" dirty="0"/>
              <a:t> splits one instruction into stages (Fetch, Decode, Execute, etc.) to process different parts of </a:t>
            </a:r>
            <a:r>
              <a:rPr lang="en-US" i="1" dirty="0"/>
              <a:t>multiple</a:t>
            </a:r>
            <a:r>
              <a:rPr lang="en-US" dirty="0"/>
              <a:t> instructions concurrently using </a:t>
            </a:r>
            <a:r>
              <a:rPr lang="en-US" i="1" dirty="0"/>
              <a:t>one</a:t>
            </a:r>
            <a:r>
              <a:rPr lang="en-US" dirty="0"/>
              <a:t> set of hardware, like an assembly line. </a:t>
            </a:r>
            <a:endParaRPr lang="en-US" dirty="0" smtClean="0"/>
          </a:p>
          <a:p>
            <a:r>
              <a:rPr lang="en-US" b="1" dirty="0" smtClean="0"/>
              <a:t>Superscalar</a:t>
            </a:r>
            <a:r>
              <a:rPr lang="en-US" dirty="0"/>
              <a:t> takes this further, using </a:t>
            </a:r>
            <a:r>
              <a:rPr lang="en-US" i="1" dirty="0"/>
              <a:t>multiple</a:t>
            </a:r>
            <a:r>
              <a:rPr lang="en-US" dirty="0"/>
              <a:t> parallel pipelines and </a:t>
            </a:r>
            <a:r>
              <a:rPr lang="en-US" i="1" dirty="0"/>
              <a:t>separate</a:t>
            </a:r>
            <a:r>
              <a:rPr lang="en-US" dirty="0"/>
              <a:t> hardware units (ALUs, etc.) to fetch, decode, and execute </a:t>
            </a:r>
            <a:r>
              <a:rPr lang="en-US" i="1" dirty="0"/>
              <a:t>several independent instructions simultaneously</a:t>
            </a:r>
            <a:r>
              <a:rPr lang="en-US" dirty="0"/>
              <a:t> in the same clock cycle, exploiting instruction-level parallelism. Think of pipelining as one assembly line for one product, while superscalar is having </a:t>
            </a:r>
            <a:r>
              <a:rPr lang="en-US" i="1" dirty="0"/>
              <a:t>multiple identical assembly lines</a:t>
            </a:r>
            <a:r>
              <a:rPr lang="en-US" dirty="0"/>
              <a:t> running at once for different products</a:t>
            </a:r>
          </a:p>
        </p:txBody>
      </p:sp>
    </p:spTree>
    <p:extLst>
      <p:ext uri="{BB962C8B-B14F-4D97-AF65-F5344CB8AC3E}">
        <p14:creationId xmlns:p14="http://schemas.microsoft.com/office/powerpoint/2010/main" val="287728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000" dirty="0"/>
              <a:t>Computer arithmetic and ALU design. </a:t>
            </a:r>
            <a:r>
              <a:rPr lang="en-US" dirty="0"/>
              <a:t> </a:t>
            </a:r>
          </a:p>
        </p:txBody>
      </p:sp>
      <p:sp>
        <p:nvSpPr>
          <p:cNvPr id="3" name="Content Placeholder 2"/>
          <p:cNvSpPr>
            <a:spLocks noGrp="1"/>
          </p:cNvSpPr>
          <p:nvPr>
            <p:ph idx="1"/>
          </p:nvPr>
        </p:nvSpPr>
        <p:spPr/>
        <p:txBody>
          <a:bodyPr/>
          <a:lstStyle/>
          <a:p>
            <a:r>
              <a:rPr lang="en-US" dirty="0"/>
              <a:t>Computer arithmetic &amp; ALU design involves creating digital circuits (ALUs) within CPUs/GPUs to execute binary math (add, subtract) &amp; logic (AND, OR, XOR) using transistor-based combinational logic, scaled up from basic 1-bit blocks with select lines for different operations, driving processor performance by handling complex calculations, floating-point, and bitwise functions, forming the core data processor alongside control units</a:t>
            </a:r>
            <a:r>
              <a:rPr lang="en-US" dirty="0" smtClean="0"/>
              <a:t>.</a:t>
            </a:r>
            <a:endParaRPr lang="en-US" dirty="0"/>
          </a:p>
        </p:txBody>
      </p:sp>
    </p:spTree>
    <p:extLst>
      <p:ext uri="{BB962C8B-B14F-4D97-AF65-F5344CB8AC3E}">
        <p14:creationId xmlns:p14="http://schemas.microsoft.com/office/powerpoint/2010/main" val="3345664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500" dirty="0"/>
              <a:t>Virtual memory and paging systems. </a:t>
            </a:r>
          </a:p>
        </p:txBody>
      </p:sp>
      <p:sp>
        <p:nvSpPr>
          <p:cNvPr id="3" name="Content Placeholder 2"/>
          <p:cNvSpPr>
            <a:spLocks noGrp="1"/>
          </p:cNvSpPr>
          <p:nvPr>
            <p:ph idx="1"/>
          </p:nvPr>
        </p:nvSpPr>
        <p:spPr/>
        <p:txBody>
          <a:bodyPr>
            <a:normAutofit fontScale="92500" lnSpcReduction="20000"/>
          </a:bodyPr>
          <a:lstStyle/>
          <a:p>
            <a:r>
              <a:rPr lang="en-US" dirty="0"/>
              <a:t>Virtual memory is a memory management technique used by operating systems to give the appearance of a large, continuous block of memory to applications, even if the physical memory (RAM) is limited and not necessarily allocated in contiguous manner. The main idea is to divide the process in pages, use disk space to move out the pages if space in main memory is required and bring back the pages when needed</a:t>
            </a:r>
            <a:r>
              <a:rPr lang="en-US" dirty="0" smtClean="0"/>
              <a:t>.</a:t>
            </a:r>
          </a:p>
          <a:p>
            <a:endParaRPr lang="en-US" dirty="0"/>
          </a:p>
          <a:p>
            <a:pPr marL="0" indent="0" fontAlgn="base">
              <a:buNone/>
            </a:pPr>
            <a:r>
              <a:rPr lang="en-US" b="1" dirty="0"/>
              <a:t>How Virtual Memory Works</a:t>
            </a:r>
          </a:p>
          <a:p>
            <a:pPr fontAlgn="base"/>
            <a:r>
              <a:rPr lang="en-US" dirty="0"/>
              <a:t>Virtual memory uses both hardware and software to manage memory.</a:t>
            </a:r>
          </a:p>
          <a:p>
            <a:pPr fontAlgn="base"/>
            <a:r>
              <a:rPr lang="en-US" dirty="0"/>
              <a:t>When a program runs, it uses virtual addresses (not real memory locations).</a:t>
            </a:r>
          </a:p>
          <a:p>
            <a:pPr fontAlgn="base"/>
            <a:r>
              <a:rPr lang="en-US" dirty="0"/>
              <a:t>The computer system converts these virtual addresses into physical addresses (actual locations in RAM) while the program runs.</a:t>
            </a:r>
          </a:p>
          <a:p>
            <a:endParaRPr lang="en-US" dirty="0"/>
          </a:p>
        </p:txBody>
      </p:sp>
    </p:spTree>
    <p:extLst>
      <p:ext uri="{BB962C8B-B14F-4D97-AF65-F5344CB8AC3E}">
        <p14:creationId xmlns:p14="http://schemas.microsoft.com/office/powerpoint/2010/main" val="1516039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1969" y="469925"/>
            <a:ext cx="8946541" cy="4195481"/>
          </a:xfrm>
        </p:spPr>
        <p:txBody>
          <a:bodyPr>
            <a:noAutofit/>
          </a:bodyPr>
          <a:lstStyle/>
          <a:p>
            <a:pPr marL="0" indent="0" fontAlgn="base">
              <a:buNone/>
            </a:pPr>
            <a:r>
              <a:rPr lang="en-US" sz="1200" b="1" dirty="0"/>
              <a:t>Types of Virtual Memory</a:t>
            </a:r>
          </a:p>
          <a:p>
            <a:pPr fontAlgn="base"/>
            <a:r>
              <a:rPr lang="en-US" sz="1200" dirty="0"/>
              <a:t>In a computer, virtual memory is managed by the Memory Management Unit (MMU), which is often built into the CPU. The CPU generates virtual addresses that the MMU translates into physical addresses. There are two main types of virtual memory:</a:t>
            </a:r>
          </a:p>
          <a:p>
            <a:pPr fontAlgn="base"/>
            <a:r>
              <a:rPr lang="en-US" sz="1200" dirty="0"/>
              <a:t>Paging</a:t>
            </a:r>
          </a:p>
          <a:p>
            <a:pPr fontAlgn="base"/>
            <a:r>
              <a:rPr lang="en-US" sz="1200" dirty="0" smtClean="0"/>
              <a:t>Segmentation</a:t>
            </a:r>
          </a:p>
          <a:p>
            <a:pPr marL="0" indent="0" fontAlgn="base">
              <a:buNone/>
            </a:pPr>
            <a:r>
              <a:rPr lang="en-US" sz="1200" b="1" dirty="0"/>
              <a:t>Paging</a:t>
            </a:r>
          </a:p>
          <a:p>
            <a:pPr fontAlgn="base"/>
            <a:r>
              <a:rPr lang="en-US" sz="1200" dirty="0"/>
              <a:t>Paging divides memory into small fixed-size blocks called pages. When the computer runs out of RAM, pages that aren't currently in use are moved to the hard drive, into an area called a swap file. Here,</a:t>
            </a:r>
          </a:p>
          <a:p>
            <a:pPr fontAlgn="base"/>
            <a:r>
              <a:rPr lang="en-US" sz="1200" dirty="0"/>
              <a:t>The swap file acts as an extension of RAM.</a:t>
            </a:r>
          </a:p>
          <a:p>
            <a:pPr fontAlgn="base"/>
            <a:r>
              <a:rPr lang="en-US" sz="1200" dirty="0"/>
              <a:t>When a page is needed again, it is swapped back into RAM, a process known as page swapping.</a:t>
            </a:r>
          </a:p>
          <a:p>
            <a:pPr fontAlgn="base"/>
            <a:r>
              <a:rPr lang="en-US" sz="1200" dirty="0"/>
              <a:t>This ensures that the operating system (OS) and applications have enough memory to run.</a:t>
            </a:r>
          </a:p>
          <a:p>
            <a:pPr fontAlgn="base"/>
            <a:endParaRPr lang="en-US" sz="1200" dirty="0"/>
          </a:p>
          <a:p>
            <a:pPr marL="0" indent="0" fontAlgn="base">
              <a:buNone/>
            </a:pPr>
            <a:r>
              <a:rPr lang="en-US" sz="1200" b="1" dirty="0"/>
              <a:t>Page Fault Service Time: </a:t>
            </a:r>
            <a:r>
              <a:rPr lang="en-US" sz="1200" dirty="0"/>
              <a:t>The time taken to service the page fault is called page fault service time. The page fault service time includes the time taken to perform all the above six steps. </a:t>
            </a:r>
          </a:p>
          <a:p>
            <a:pPr fontAlgn="base"/>
            <a:r>
              <a:rPr lang="en-US" sz="1200" dirty="0"/>
              <a:t>Let Main memory access time is: m</a:t>
            </a:r>
            <a:r>
              <a:rPr lang="en-US" sz="1200" i="1" dirty="0"/>
              <a:t>m</a:t>
            </a:r>
            <a:endParaRPr lang="en-US" sz="1200" dirty="0"/>
          </a:p>
          <a:p>
            <a:pPr fontAlgn="base"/>
            <a:r>
              <a:rPr lang="en-US" sz="1200" dirty="0"/>
              <a:t>Page fault service time is: </a:t>
            </a:r>
            <a:r>
              <a:rPr lang="en-US" sz="1200" dirty="0" err="1"/>
              <a:t>s</a:t>
            </a:r>
            <a:r>
              <a:rPr lang="en-US" sz="1200" i="1" dirty="0" err="1"/>
              <a:t>s</a:t>
            </a:r>
            <a:endParaRPr lang="en-US" sz="1200" dirty="0"/>
          </a:p>
          <a:p>
            <a:pPr fontAlgn="base"/>
            <a:r>
              <a:rPr lang="en-US" sz="1200" dirty="0"/>
              <a:t>Page fault rate is : p</a:t>
            </a:r>
            <a:r>
              <a:rPr lang="en-US" sz="1200" i="1" dirty="0"/>
              <a:t>p</a:t>
            </a:r>
            <a:endParaRPr lang="en-US" sz="1200" dirty="0"/>
          </a:p>
          <a:p>
            <a:pPr fontAlgn="base"/>
            <a:r>
              <a:rPr lang="en-US" sz="1200" dirty="0"/>
              <a:t>Then, Effective memory access time = (</a:t>
            </a:r>
            <a:r>
              <a:rPr lang="en-US" sz="1200" dirty="0" err="1"/>
              <a:t>p∗s</a:t>
            </a:r>
            <a:r>
              <a:rPr lang="en-US" sz="1200" dirty="0"/>
              <a:t>)+(1−p)∗m(</a:t>
            </a:r>
            <a:r>
              <a:rPr lang="en-US" sz="1200" i="1" dirty="0" err="1"/>
              <a:t>p</a:t>
            </a:r>
            <a:r>
              <a:rPr lang="en-US" sz="1200" dirty="0" err="1"/>
              <a:t>∗</a:t>
            </a:r>
            <a:r>
              <a:rPr lang="en-US" sz="1200" i="1" dirty="0" err="1"/>
              <a:t>s</a:t>
            </a:r>
            <a:r>
              <a:rPr lang="en-US" sz="1200" dirty="0"/>
              <a:t>)+(1−</a:t>
            </a:r>
            <a:r>
              <a:rPr lang="en-US" sz="1200" i="1" dirty="0"/>
              <a:t>p</a:t>
            </a:r>
            <a:r>
              <a:rPr lang="en-US" sz="1200" dirty="0"/>
              <a:t>)∗</a:t>
            </a:r>
            <a:r>
              <a:rPr lang="en-US" sz="1200" i="1" dirty="0"/>
              <a:t>m</a:t>
            </a:r>
            <a:endParaRPr lang="en-US" sz="1200" dirty="0"/>
          </a:p>
          <a:p>
            <a:pPr fontAlgn="base"/>
            <a:endParaRPr lang="en-US" sz="1200" dirty="0"/>
          </a:p>
        </p:txBody>
      </p:sp>
    </p:spTree>
    <p:extLst>
      <p:ext uri="{BB962C8B-B14F-4D97-AF65-F5344CB8AC3E}">
        <p14:creationId xmlns:p14="http://schemas.microsoft.com/office/powerpoint/2010/main" val="2434568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500" dirty="0"/>
              <a:t>Benchmarking and performance</a:t>
            </a:r>
          </a:p>
        </p:txBody>
      </p:sp>
      <p:sp>
        <p:nvSpPr>
          <p:cNvPr id="3" name="Content Placeholder 2"/>
          <p:cNvSpPr>
            <a:spLocks noGrp="1"/>
          </p:cNvSpPr>
          <p:nvPr>
            <p:ph idx="1"/>
          </p:nvPr>
        </p:nvSpPr>
        <p:spPr/>
        <p:txBody>
          <a:bodyPr/>
          <a:lstStyle/>
          <a:p>
            <a:pPr algn="just"/>
            <a:r>
              <a:rPr lang="en-US" dirty="0"/>
              <a:t>Benchmark performance refers to the use of a set of integer and floating-point programs (known collectively as a benchmark) that are designed to test different performance aspects of the computing system(s) under test. Benchmark programs should be designed to provide fair and effective comparisons among high-performance computing systems. For a benchmark to be meaningful, it should evaluate faithfully the performance for the intended use of the system.</a:t>
            </a:r>
          </a:p>
        </p:txBody>
      </p:sp>
    </p:spTree>
    <p:extLst>
      <p:ext uri="{BB962C8B-B14F-4D97-AF65-F5344CB8AC3E}">
        <p14:creationId xmlns:p14="http://schemas.microsoft.com/office/powerpoint/2010/main" val="3436613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1970" y="1492479"/>
            <a:ext cx="8946541" cy="4195481"/>
          </a:xfrm>
        </p:spPr>
        <p:txBody>
          <a:bodyPr/>
          <a:lstStyle/>
          <a:p>
            <a:pPr fontAlgn="base"/>
            <a:r>
              <a:rPr lang="en-US" b="1" dirty="0"/>
              <a:t>Control Unit:</a:t>
            </a:r>
            <a:r>
              <a:rPr lang="en-US" dirty="0"/>
              <a:t> The control unit manages the CPU by sending signals like clock, hold, and reset to its parts. It ensures all components work together to complete tasks. For example, it synchronizes data movement from cache memory to the ALU.</a:t>
            </a:r>
          </a:p>
          <a:p>
            <a:pPr fontAlgn="base"/>
            <a:r>
              <a:rPr lang="en-US" b="1" dirty="0"/>
              <a:t>Arithmetic and Logic Unit (ALU)</a:t>
            </a:r>
            <a:r>
              <a:rPr lang="en-US" dirty="0"/>
              <a:t>: The ALU handles arithmetic tasks (like addition, subtraction, multiplication, division) and logical tasks (like AND, OR, comparisons). It uses addition for all calculations, e.g., solving 2×3 as 2+2+2=6.</a:t>
            </a:r>
          </a:p>
          <a:p>
            <a:pPr fontAlgn="base"/>
            <a:r>
              <a:rPr lang="en-US" b="1" dirty="0"/>
              <a:t>Memory Unit</a:t>
            </a:r>
            <a:r>
              <a:rPr lang="en-US" dirty="0"/>
              <a:t>: The memory unit stores data and instructions. Older CPUs used registers, but modern ones also have fast cache memory. The CPU fetches data from RAM, ROM, or hard disks and stores it in registers or cache during tasks.</a:t>
            </a:r>
          </a:p>
        </p:txBody>
      </p:sp>
      <p:sp>
        <p:nvSpPr>
          <p:cNvPr id="4" name="TextBox 3"/>
          <p:cNvSpPr txBox="1"/>
          <p:nvPr/>
        </p:nvSpPr>
        <p:spPr>
          <a:xfrm flipH="1">
            <a:off x="1432067" y="776749"/>
            <a:ext cx="6158436" cy="477054"/>
          </a:xfrm>
          <a:prstGeom prst="rect">
            <a:avLst/>
          </a:prstGeom>
          <a:noFill/>
        </p:spPr>
        <p:txBody>
          <a:bodyPr wrap="square" rtlCol="0">
            <a:spAutoFit/>
          </a:bodyPr>
          <a:lstStyle/>
          <a:p>
            <a:r>
              <a:rPr lang="en-US" sz="2500" dirty="0" smtClean="0"/>
              <a:t>CPU Components</a:t>
            </a:r>
            <a:endParaRPr lang="en-US" sz="2500" dirty="0"/>
          </a:p>
        </p:txBody>
      </p:sp>
    </p:spTree>
    <p:extLst>
      <p:ext uri="{BB962C8B-B14F-4D97-AF65-F5344CB8AC3E}">
        <p14:creationId xmlns:p14="http://schemas.microsoft.com/office/powerpoint/2010/main" val="1185592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9454" y="1207344"/>
            <a:ext cx="8946541" cy="4195481"/>
          </a:xfrm>
        </p:spPr>
        <p:txBody>
          <a:bodyPr>
            <a:normAutofit fontScale="85000" lnSpcReduction="20000"/>
          </a:bodyPr>
          <a:lstStyle/>
          <a:p>
            <a:pPr fontAlgn="base"/>
            <a:r>
              <a:rPr lang="en-US" b="1" dirty="0"/>
              <a:t>Fetch:</a:t>
            </a:r>
            <a:r>
              <a:rPr lang="en-US" dirty="0"/>
              <a:t> the first CPU gets the instruction. That means binary numbers that are passed from RAM to CPU.</a:t>
            </a:r>
          </a:p>
          <a:p>
            <a:pPr fontAlgn="base"/>
            <a:r>
              <a:rPr lang="en-US" b="1" dirty="0"/>
              <a:t>Decode:</a:t>
            </a:r>
            <a:r>
              <a:rPr lang="en-US" dirty="0"/>
              <a:t> When the instruction is entered into the CPU, it needs to decode the instructions. with the help of ALU(Arithmetic Logic Unit), the process of decoding begins.</a:t>
            </a:r>
          </a:p>
          <a:p>
            <a:pPr fontAlgn="base"/>
            <a:r>
              <a:rPr lang="en-US" b="1" dirty="0"/>
              <a:t>Execute:</a:t>
            </a:r>
            <a:r>
              <a:rPr lang="en-US" dirty="0"/>
              <a:t> After the decode step the instructions are ready to execute.</a:t>
            </a:r>
          </a:p>
          <a:p>
            <a:pPr fontAlgn="base"/>
            <a:r>
              <a:rPr lang="en-US" b="1" dirty="0"/>
              <a:t>Store:</a:t>
            </a:r>
            <a:r>
              <a:rPr lang="en-US" dirty="0"/>
              <a:t> After the execute step the instructions are ready to store in the memory</a:t>
            </a:r>
            <a:r>
              <a:rPr lang="en-US" dirty="0" smtClean="0"/>
              <a:t>.</a:t>
            </a:r>
            <a:endParaRPr lang="en-US" dirty="0"/>
          </a:p>
          <a:p>
            <a:pPr marL="0" indent="0" fontAlgn="base">
              <a:buNone/>
            </a:pPr>
            <a:endParaRPr lang="en-US" dirty="0"/>
          </a:p>
          <a:p>
            <a:pPr marL="0" indent="0" fontAlgn="base">
              <a:buNone/>
            </a:pPr>
            <a:r>
              <a:rPr lang="en-US" dirty="0" err="1" smtClean="0"/>
              <a:t>Cpu</a:t>
            </a:r>
            <a:r>
              <a:rPr lang="en-US" dirty="0" smtClean="0"/>
              <a:t> Performance factors</a:t>
            </a:r>
          </a:p>
          <a:p>
            <a:pPr fontAlgn="base"/>
            <a:r>
              <a:rPr lang="en-US" dirty="0" smtClean="0"/>
              <a:t>Processor</a:t>
            </a:r>
          </a:p>
          <a:p>
            <a:pPr fontAlgn="base"/>
            <a:r>
              <a:rPr lang="en-US" dirty="0" smtClean="0"/>
              <a:t>Storage</a:t>
            </a:r>
          </a:p>
          <a:p>
            <a:pPr fontAlgn="base"/>
            <a:r>
              <a:rPr lang="en-US" dirty="0" smtClean="0"/>
              <a:t>IO Devices</a:t>
            </a:r>
          </a:p>
          <a:p>
            <a:pPr fontAlgn="base"/>
            <a:r>
              <a:rPr lang="en-US" dirty="0" smtClean="0"/>
              <a:t>Memory</a:t>
            </a:r>
          </a:p>
        </p:txBody>
      </p:sp>
      <p:sp>
        <p:nvSpPr>
          <p:cNvPr id="4" name="Rectangle 3"/>
          <p:cNvSpPr/>
          <p:nvPr/>
        </p:nvSpPr>
        <p:spPr>
          <a:xfrm>
            <a:off x="1329454" y="668283"/>
            <a:ext cx="1773242" cy="369332"/>
          </a:xfrm>
          <a:prstGeom prst="rect">
            <a:avLst/>
          </a:prstGeom>
        </p:spPr>
        <p:txBody>
          <a:bodyPr wrap="none">
            <a:spAutoFit/>
          </a:bodyPr>
          <a:lstStyle/>
          <a:p>
            <a:r>
              <a:rPr lang="en-US" dirty="0" smtClean="0"/>
              <a:t>CPU Functions</a:t>
            </a:r>
            <a:endParaRPr lang="en-US" dirty="0"/>
          </a:p>
        </p:txBody>
      </p:sp>
    </p:spTree>
    <p:extLst>
      <p:ext uri="{BB962C8B-B14F-4D97-AF65-F5344CB8AC3E}">
        <p14:creationId xmlns:p14="http://schemas.microsoft.com/office/powerpoint/2010/main" val="181741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500" dirty="0"/>
              <a:t>Microarchitecture </a:t>
            </a:r>
            <a:r>
              <a:rPr lang="en-US" sz="3500" dirty="0" smtClean="0"/>
              <a:t>design and Instruction Set Architecture </a:t>
            </a:r>
            <a:endParaRPr lang="en-US" sz="3500" dirty="0"/>
          </a:p>
        </p:txBody>
      </p:sp>
      <p:sp>
        <p:nvSpPr>
          <p:cNvPr id="3" name="Content Placeholder 2"/>
          <p:cNvSpPr>
            <a:spLocks noGrp="1"/>
          </p:cNvSpPr>
          <p:nvPr>
            <p:ph idx="1"/>
          </p:nvPr>
        </p:nvSpPr>
        <p:spPr/>
        <p:txBody>
          <a:bodyPr>
            <a:normAutofit fontScale="70000" lnSpcReduction="20000"/>
          </a:bodyPr>
          <a:lstStyle/>
          <a:p>
            <a:pPr fontAlgn="base"/>
            <a:r>
              <a:rPr lang="en-US" b="1" dirty="0" smtClean="0"/>
              <a:t>ISA </a:t>
            </a:r>
            <a:r>
              <a:rPr lang="en-US" b="1" dirty="0"/>
              <a:t>(Instruction Set </a:t>
            </a:r>
            <a:r>
              <a:rPr lang="en-US" b="1" dirty="0" smtClean="0"/>
              <a:t>Architecture)</a:t>
            </a:r>
          </a:p>
          <a:p>
            <a:pPr marL="0" indent="0" fontAlgn="base">
              <a:buNone/>
            </a:pPr>
            <a:r>
              <a:rPr lang="en-US" dirty="0" smtClean="0"/>
              <a:t>ISA </a:t>
            </a:r>
            <a:r>
              <a:rPr lang="en-US" dirty="0"/>
              <a:t>is the language of the CPU that tells it what operations it can perform, such as adding numbers, loading data, or jumping to another instruction.</a:t>
            </a:r>
            <a:br>
              <a:rPr lang="en-US" dirty="0"/>
            </a:br>
            <a:r>
              <a:rPr lang="en-US" dirty="0"/>
              <a:t>It defines how software communicates with hardware through specific instruction rules and formats. It includes:</a:t>
            </a:r>
          </a:p>
          <a:p>
            <a:pPr marL="0" indent="0" fontAlgn="base">
              <a:buNone/>
            </a:pPr>
            <a:r>
              <a:rPr lang="en-US" dirty="0"/>
              <a:t>Instruction types (ADD, LOAD, JUMP), registers, data types, and memory access</a:t>
            </a:r>
          </a:p>
          <a:p>
            <a:pPr marL="0" indent="0" fontAlgn="base">
              <a:buNone/>
            </a:pPr>
            <a:r>
              <a:rPr lang="en-US" dirty="0"/>
              <a:t>Interrupt handling and system-level communication</a:t>
            </a:r>
          </a:p>
          <a:p>
            <a:pPr fontAlgn="base"/>
            <a:r>
              <a:rPr lang="en-US" b="1" dirty="0" smtClean="0"/>
              <a:t>Microarchitecture</a:t>
            </a:r>
          </a:p>
          <a:p>
            <a:pPr marL="0" indent="0" fontAlgn="base">
              <a:buNone/>
            </a:pPr>
            <a:r>
              <a:rPr lang="en-US" dirty="0"/>
              <a:t>Microarchitecture (µarch) is the specific hardware design and internal organization of a processor (CPU), detailing how an Instruction Set Architecture (ISA)—what the CPU can do—is actually built and executed, involving components like pipelines, caches, registers, and ALUs to manage data flow and </a:t>
            </a:r>
            <a:r>
              <a:rPr lang="en-US" dirty="0" smtClean="0"/>
              <a:t>performance.</a:t>
            </a:r>
          </a:p>
          <a:p>
            <a:pPr marL="0" lvl="0" indent="0" defTabSz="914400" eaLnBrk="0" fontAlgn="base" hangingPunct="0">
              <a:spcBef>
                <a:spcPct val="0"/>
              </a:spcBef>
              <a:spcAft>
                <a:spcPct val="0"/>
              </a:spcAft>
              <a:buClrTx/>
              <a:buSzTx/>
              <a:buNone/>
            </a:pPr>
            <a:endParaRPr lang="en-US" altLang="en-US" sz="3200" dirty="0">
              <a:latin typeface="Arial" panose="020B0604020202020204" pitchFamily="34" charset="0"/>
            </a:endParaRPr>
          </a:p>
          <a:p>
            <a:pPr defTabSz="914400" eaLnBrk="0" fontAlgn="base" hangingPunct="0">
              <a:spcBef>
                <a:spcPct val="0"/>
              </a:spcBef>
              <a:spcAft>
                <a:spcPct val="0"/>
              </a:spcAft>
              <a:buClrTx/>
              <a:buSzTx/>
            </a:pPr>
            <a:r>
              <a:rPr lang="en-US" altLang="en-US" b="1" dirty="0">
                <a:solidFill>
                  <a:srgbClr val="E6E8F0"/>
                </a:solidFill>
                <a:latin typeface="Google Sans"/>
              </a:rPr>
              <a:t>ISA (The "What"):</a:t>
            </a:r>
            <a:r>
              <a:rPr lang="en-US" altLang="en-US" dirty="0">
                <a:solidFill>
                  <a:srgbClr val="E6E8F0"/>
                </a:solidFill>
                <a:latin typeface="Google Sans"/>
              </a:rPr>
              <a:t> </a:t>
            </a:r>
          </a:p>
          <a:p>
            <a:pPr marL="0" lvl="0" indent="0" defTabSz="914400" eaLnBrk="0" fontAlgn="base" hangingPunct="0">
              <a:spcBef>
                <a:spcPct val="0"/>
              </a:spcBef>
              <a:spcAft>
                <a:spcPct val="0"/>
              </a:spcAft>
              <a:buClrTx/>
              <a:buSzTx/>
              <a:buNone/>
            </a:pPr>
            <a:r>
              <a:rPr lang="en-US" altLang="en-US" dirty="0">
                <a:solidFill>
                  <a:srgbClr val="E6E8F0"/>
                </a:solidFill>
                <a:latin typeface="Google Sans"/>
              </a:rPr>
              <a:t>The abstract model, programmer's view, specifying instructions, registers, memory addressing. (e.g., </a:t>
            </a:r>
            <a:r>
              <a:rPr lang="en-US" altLang="en-US" sz="1400" dirty="0">
                <a:solidFill>
                  <a:srgbClr val="E6E8F0"/>
                </a:solidFill>
                <a:latin typeface="Courier New" panose="02070309020205020404" pitchFamily="49" charset="0"/>
                <a:cs typeface="Courier New" panose="02070309020205020404" pitchFamily="49" charset="0"/>
              </a:rPr>
              <a:t>ADD R1, </a:t>
            </a:r>
            <a:r>
              <a:rPr lang="en-US" altLang="en-US" sz="1400" dirty="0" smtClean="0">
                <a:solidFill>
                  <a:srgbClr val="E6E8F0"/>
                </a:solidFill>
                <a:latin typeface="Courier New" panose="02070309020205020404" pitchFamily="49" charset="0"/>
                <a:cs typeface="Courier New" panose="02070309020205020404" pitchFamily="49" charset="0"/>
              </a:rPr>
              <a:t>R2)</a:t>
            </a:r>
            <a:endParaRPr lang="en-US" dirty="0" smtClean="0"/>
          </a:p>
          <a:p>
            <a:r>
              <a:rPr lang="en-US" b="1" dirty="0"/>
              <a:t>Microarchitecture (The "How"):</a:t>
            </a:r>
            <a:r>
              <a:rPr lang="en-US" dirty="0"/>
              <a:t> </a:t>
            </a:r>
          </a:p>
          <a:p>
            <a:pPr marL="0" indent="0">
              <a:buNone/>
            </a:pPr>
            <a:r>
              <a:rPr lang="en-US" dirty="0"/>
              <a:t>The physical realization, how those instructions are pipelined, out-of-order executed, and managed on silicon</a:t>
            </a:r>
          </a:p>
          <a:p>
            <a:pPr marL="0" indent="0" fontAlgn="base">
              <a:buNone/>
            </a:pPr>
            <a:endParaRPr lang="en-US" b="1" dirty="0" smtClean="0"/>
          </a:p>
          <a:p>
            <a:pPr fontAlgn="base"/>
            <a:endParaRPr lang="en-US" dirty="0"/>
          </a:p>
        </p:txBody>
      </p:sp>
    </p:spTree>
    <p:extLst>
      <p:ext uri="{BB962C8B-B14F-4D97-AF65-F5344CB8AC3E}">
        <p14:creationId xmlns:p14="http://schemas.microsoft.com/office/powerpoint/2010/main" val="38651770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3144" y="991034"/>
            <a:ext cx="8946541" cy="4195481"/>
          </a:xfrm>
        </p:spPr>
        <p:txBody>
          <a:bodyPr>
            <a:noAutofit/>
          </a:bodyPr>
          <a:lstStyle/>
          <a:p>
            <a:r>
              <a:rPr lang="en-US" sz="1800" dirty="0"/>
              <a:t>Branch prediction</a:t>
            </a:r>
            <a:endParaRPr lang="en-US" sz="1800" dirty="0" smtClean="0"/>
          </a:p>
          <a:p>
            <a:pPr marL="0" indent="0">
              <a:buNone/>
            </a:pPr>
            <a:r>
              <a:rPr lang="en-US" sz="1800" dirty="0" smtClean="0"/>
              <a:t>Branch </a:t>
            </a:r>
            <a:r>
              <a:rPr lang="en-US" sz="1800" dirty="0"/>
              <a:t>prediction guesses the outcome of a branch (like an if statement) to keep the processor busy, while speculative execution is the actual execution of instructions along that predicted path before the guess is confirmed, saving time if right, but requiring the CPU to discard results if wrong, all to avoid pipeline stalls and boost performance. </a:t>
            </a:r>
            <a:endParaRPr lang="en-US" sz="1800" dirty="0" smtClean="0"/>
          </a:p>
          <a:p>
            <a:endParaRPr lang="en-US" sz="1800" dirty="0" smtClean="0"/>
          </a:p>
          <a:p>
            <a:r>
              <a:rPr lang="en-US" sz="1800" b="1" dirty="0" smtClean="0"/>
              <a:t>Speculative </a:t>
            </a:r>
            <a:r>
              <a:rPr lang="en-US" sz="1800" b="1" dirty="0"/>
              <a:t>execution</a:t>
            </a:r>
          </a:p>
          <a:p>
            <a:pPr marL="0" indent="0">
              <a:buNone/>
            </a:pPr>
            <a:r>
              <a:rPr lang="en-US" sz="1800" dirty="0"/>
              <a:t>Speculative execution is a technique that allows the processor to execute instructions before knowing if they are </a:t>
            </a:r>
            <a:r>
              <a:rPr lang="en-US" sz="1800" dirty="0" smtClean="0"/>
              <a:t>needed.</a:t>
            </a:r>
            <a:endParaRPr lang="en-US" sz="1800" dirty="0"/>
          </a:p>
          <a:p>
            <a:pPr marL="0" indent="0">
              <a:buNone/>
            </a:pPr>
            <a:r>
              <a:rPr lang="en-US" sz="1800" dirty="0"/>
              <a:t>Processor predicts the outcome of a branch instruction and starts executing instructions along the predicted path</a:t>
            </a:r>
          </a:p>
          <a:p>
            <a:pPr marL="0" indent="0">
              <a:buNone/>
            </a:pPr>
            <a:r>
              <a:rPr lang="en-US" sz="1800" dirty="0"/>
              <a:t>Speculative execution is performed in parallel with the evaluation of the branch condition</a:t>
            </a:r>
          </a:p>
          <a:p>
            <a:pPr marL="0" indent="0">
              <a:buNone/>
            </a:pPr>
            <a:r>
              <a:rPr lang="en-US" sz="1800" dirty="0"/>
              <a:t>If the prediction is correct, the speculatively executed instructions are committed, and their results become architecturally </a:t>
            </a:r>
            <a:r>
              <a:rPr lang="en-US" sz="1800" dirty="0" smtClean="0"/>
              <a:t>visible</a:t>
            </a:r>
            <a:r>
              <a:rPr lang="en-US" sz="1800" dirty="0"/>
              <a:t>.</a:t>
            </a:r>
          </a:p>
        </p:txBody>
      </p:sp>
    </p:spTree>
    <p:extLst>
      <p:ext uri="{BB962C8B-B14F-4D97-AF65-F5344CB8AC3E}">
        <p14:creationId xmlns:p14="http://schemas.microsoft.com/office/powerpoint/2010/main" val="1763237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500" dirty="0"/>
              <a:t>Parallelism at the instruction level (ILP)</a:t>
            </a:r>
          </a:p>
        </p:txBody>
      </p:sp>
      <p:sp>
        <p:nvSpPr>
          <p:cNvPr id="3" name="Content Placeholder 2"/>
          <p:cNvSpPr>
            <a:spLocks noGrp="1"/>
          </p:cNvSpPr>
          <p:nvPr>
            <p:ph idx="1"/>
          </p:nvPr>
        </p:nvSpPr>
        <p:spPr/>
        <p:txBody>
          <a:bodyPr/>
          <a:lstStyle/>
          <a:p>
            <a:pPr marL="0" indent="0" fontAlgn="base">
              <a:buNone/>
            </a:pPr>
            <a:r>
              <a:rPr lang="en-US" dirty="0"/>
              <a:t>Instruction-Level Parallelism (ILP) refers to the capability of a processor to execute multiple instructions at the same time. Instead of running each instruction strictly one after another, ILP uses hardware and compiler techniques to overlap instruction execution wherever dependencies allow.</a:t>
            </a:r>
          </a:p>
          <a:p>
            <a:pPr fontAlgn="base"/>
            <a:r>
              <a:rPr lang="en-US" dirty="0"/>
              <a:t>Identifies independent instructions and runs them in parallel.</a:t>
            </a:r>
          </a:p>
          <a:p>
            <a:pPr fontAlgn="base"/>
            <a:r>
              <a:rPr lang="en-US" dirty="0"/>
              <a:t>Works within a single processor, not across multiple cores.</a:t>
            </a:r>
          </a:p>
          <a:p>
            <a:pPr fontAlgn="base"/>
            <a:r>
              <a:rPr lang="en-US" dirty="0"/>
              <a:t>Basis of modern CPUs with </a:t>
            </a:r>
            <a:r>
              <a:rPr lang="en-US" dirty="0" err="1"/>
              <a:t>organised</a:t>
            </a:r>
            <a:r>
              <a:rPr lang="en-US" dirty="0"/>
              <a:t> instruction scheduling.</a:t>
            </a:r>
          </a:p>
        </p:txBody>
      </p:sp>
    </p:spTree>
    <p:extLst>
      <p:ext uri="{BB962C8B-B14F-4D97-AF65-F5344CB8AC3E}">
        <p14:creationId xmlns:p14="http://schemas.microsoft.com/office/powerpoint/2010/main" val="589123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500" dirty="0"/>
              <a:t>CPU cooling and thermal management</a:t>
            </a:r>
          </a:p>
        </p:txBody>
      </p:sp>
      <p:sp>
        <p:nvSpPr>
          <p:cNvPr id="3" name="Content Placeholder 2"/>
          <p:cNvSpPr>
            <a:spLocks noGrp="1"/>
          </p:cNvSpPr>
          <p:nvPr>
            <p:ph idx="1"/>
          </p:nvPr>
        </p:nvSpPr>
        <p:spPr>
          <a:xfrm>
            <a:off x="1103312" y="2052919"/>
            <a:ext cx="8946541" cy="2283108"/>
          </a:xfrm>
        </p:spPr>
        <p:txBody>
          <a:bodyPr/>
          <a:lstStyle/>
          <a:p>
            <a:r>
              <a:rPr lang="en-US" dirty="0"/>
              <a:t>CPU cooling and thermal management are essential processes for dissipating heat generated by processors to maintain performance, prevent damage, and ensure reliability, primarily using techniques like heatsinks, fans, thermal paste, and airflow optimization, with methods ranging from basic air cooling to advanced liquid cooling to handle increasing heat loads. </a:t>
            </a:r>
          </a:p>
        </p:txBody>
      </p:sp>
    </p:spTree>
    <p:extLst>
      <p:ext uri="{BB962C8B-B14F-4D97-AF65-F5344CB8AC3E}">
        <p14:creationId xmlns:p14="http://schemas.microsoft.com/office/powerpoint/2010/main" val="586329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500" dirty="0"/>
              <a:t>The future of CPUs: Quantum computing and beyond.   </a:t>
            </a:r>
          </a:p>
        </p:txBody>
      </p:sp>
      <p:sp>
        <p:nvSpPr>
          <p:cNvPr id="3" name="Content Placeholder 2"/>
          <p:cNvSpPr>
            <a:spLocks noGrp="1"/>
          </p:cNvSpPr>
          <p:nvPr>
            <p:ph idx="1"/>
          </p:nvPr>
        </p:nvSpPr>
        <p:spPr>
          <a:xfrm>
            <a:off x="1103312" y="2052919"/>
            <a:ext cx="8946541" cy="3118850"/>
          </a:xfrm>
        </p:spPr>
        <p:txBody>
          <a:bodyPr/>
          <a:lstStyle/>
          <a:p>
            <a:pPr algn="just"/>
            <a:r>
              <a:rPr lang="en-US" dirty="0"/>
              <a:t>Quantum computing is at the center of this revolution. Unlike the classical computers using bits (0s and 1s), quantum computer uses computer </a:t>
            </a:r>
            <a:r>
              <a:rPr lang="en-US" dirty="0" smtClean="0"/>
              <a:t>Qubits, </a:t>
            </a:r>
            <a:r>
              <a:rPr lang="en-US" dirty="0"/>
              <a:t>which can be present in several states simultaneously. This allows them to perform complex calculations at unimaginable speed with today’s machines. Problems that will take thousands of years to solve classical computers can be completed in minutes on the quantum system. Industries like medical, climate science and cryptography can completely change with this capacity.</a:t>
            </a:r>
          </a:p>
        </p:txBody>
      </p:sp>
    </p:spTree>
    <p:extLst>
      <p:ext uri="{BB962C8B-B14F-4D97-AF65-F5344CB8AC3E}">
        <p14:creationId xmlns:p14="http://schemas.microsoft.com/office/powerpoint/2010/main" val="1520390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memory and coherence</a:t>
            </a:r>
            <a:endParaRPr lang="en-US" dirty="0"/>
          </a:p>
        </p:txBody>
      </p:sp>
      <p:sp>
        <p:nvSpPr>
          <p:cNvPr id="3" name="Content Placeholder 2"/>
          <p:cNvSpPr>
            <a:spLocks noGrp="1"/>
          </p:cNvSpPr>
          <p:nvPr>
            <p:ph idx="1"/>
          </p:nvPr>
        </p:nvSpPr>
        <p:spPr>
          <a:xfrm>
            <a:off x="1104293" y="1580970"/>
            <a:ext cx="8946541" cy="4195481"/>
          </a:xfrm>
        </p:spPr>
        <p:txBody>
          <a:bodyPr>
            <a:normAutofit/>
          </a:bodyPr>
          <a:lstStyle/>
          <a:p>
            <a:r>
              <a:rPr lang="en-US" dirty="0"/>
              <a:t>Cache memory speeds up processors by storing frequently used data close by, but in multi-core systems, cache coherence ensures all cores see a consistent view of shared data, preventing stale data issues through protocols (like MESI) that manage states (Modified, Shared, Invalid) to synchronize updates, using techniques like snooping or directories to keep multiple cache copies consistent. </a:t>
            </a:r>
          </a:p>
          <a:p>
            <a:pPr marL="0" indent="0" algn="just">
              <a:buNone/>
            </a:pPr>
            <a:r>
              <a:rPr lang="en-US" b="1" dirty="0"/>
              <a:t>Cache Coherence </a:t>
            </a:r>
          </a:p>
          <a:p>
            <a:pPr marL="0" indent="0" algn="just">
              <a:buNone/>
            </a:pPr>
            <a:r>
              <a:rPr lang="en-US" dirty="0"/>
              <a:t>Cache coherence in computer architecture refers to the consistency of shared resource data that is stored in multiple local caches. When clients in a system maintain caches of a shared memory resource, problems with incoherent data can arise, which is especially true for CPUs in multiprocessing system.</a:t>
            </a:r>
          </a:p>
        </p:txBody>
      </p:sp>
    </p:spTree>
    <p:extLst>
      <p:ext uri="{BB962C8B-B14F-4D97-AF65-F5344CB8AC3E}">
        <p14:creationId xmlns:p14="http://schemas.microsoft.com/office/powerpoint/2010/main" val="18961051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2137" y="1217177"/>
            <a:ext cx="8946541" cy="4195481"/>
          </a:xfrm>
        </p:spPr>
        <p:txBody>
          <a:bodyPr/>
          <a:lstStyle/>
          <a:p>
            <a:pPr marL="0" indent="0">
              <a:buNone/>
            </a:pPr>
            <a:r>
              <a:rPr lang="en-US" dirty="0"/>
              <a:t>Memory Allocation Algorithms (Manual/OS Level)</a:t>
            </a:r>
          </a:p>
          <a:p>
            <a:r>
              <a:rPr lang="en-US" dirty="0"/>
              <a:t>These decide how to fit new requests into available memory blocks (the "heap").</a:t>
            </a:r>
          </a:p>
          <a:p>
            <a:r>
              <a:rPr lang="en-US" dirty="0"/>
              <a:t>First-Fit: Finds the first free block large enough for the request.</a:t>
            </a:r>
          </a:p>
          <a:p>
            <a:r>
              <a:rPr lang="en-US" dirty="0"/>
              <a:t>Best-Fit: Finds the smallest free block that fits, minimizing wasted space but potentially creating tiny, unusable fragments.</a:t>
            </a:r>
          </a:p>
          <a:p>
            <a:r>
              <a:rPr lang="en-US" dirty="0"/>
              <a:t>Worst-Fit: Finds the largest free block, leaving a large chunk for future big requests (less common).</a:t>
            </a:r>
          </a:p>
          <a:p>
            <a:r>
              <a:rPr lang="en-US" dirty="0"/>
              <a:t>Buddy System: Divides memory into power-of-2 blocks, splitting and merging them as needed. </a:t>
            </a:r>
          </a:p>
        </p:txBody>
      </p:sp>
    </p:spTree>
    <p:extLst>
      <p:ext uri="{BB962C8B-B14F-4D97-AF65-F5344CB8AC3E}">
        <p14:creationId xmlns:p14="http://schemas.microsoft.com/office/powerpoint/2010/main" val="16726956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500" dirty="0"/>
              <a:t>Advances in solid-state drives (SSDs) technology</a:t>
            </a:r>
          </a:p>
        </p:txBody>
      </p:sp>
      <p:sp>
        <p:nvSpPr>
          <p:cNvPr id="3" name="Content Placeholder 2"/>
          <p:cNvSpPr>
            <a:spLocks noGrp="1"/>
          </p:cNvSpPr>
          <p:nvPr>
            <p:ph idx="1"/>
          </p:nvPr>
        </p:nvSpPr>
        <p:spPr/>
        <p:txBody>
          <a:bodyPr/>
          <a:lstStyle/>
          <a:p>
            <a:r>
              <a:rPr lang="en-US" dirty="0"/>
              <a:t>SSD advances focus on </a:t>
            </a:r>
            <a:r>
              <a:rPr lang="en-US" b="1" dirty="0" err="1">
                <a:hlinkClick r:id="rId2"/>
              </a:rPr>
              <a:t>NVMe</a:t>
            </a:r>
            <a:r>
              <a:rPr lang="en-US" b="1" dirty="0">
                <a:hlinkClick r:id="rId2"/>
              </a:rPr>
              <a:t>/</a:t>
            </a:r>
            <a:r>
              <a:rPr lang="en-US" b="1" dirty="0" err="1">
                <a:hlinkClick r:id="rId2"/>
              </a:rPr>
              <a:t>PCIe</a:t>
            </a:r>
            <a:r>
              <a:rPr lang="en-US" b="1" dirty="0">
                <a:hlinkClick r:id="rId2"/>
              </a:rPr>
              <a:t> interfaces</a:t>
            </a:r>
            <a:r>
              <a:rPr lang="en-US" dirty="0"/>
              <a:t> for extreme speed, </a:t>
            </a:r>
            <a:r>
              <a:rPr lang="en-US" b="1" dirty="0">
                <a:hlinkClick r:id="rId3"/>
              </a:rPr>
              <a:t>3D NAND stacking</a:t>
            </a:r>
            <a:r>
              <a:rPr lang="en-US" dirty="0"/>
              <a:t> for massive capacities (even 100TB+), and emerging tech like </a:t>
            </a:r>
            <a:r>
              <a:rPr lang="en-US" b="1" dirty="0">
                <a:hlinkClick r:id="rId4"/>
              </a:rPr>
              <a:t>Computational Storage</a:t>
            </a:r>
            <a:r>
              <a:rPr lang="en-US" dirty="0"/>
              <a:t> and </a:t>
            </a:r>
            <a:r>
              <a:rPr lang="en-US" b="1" dirty="0">
                <a:hlinkClick r:id="rId5"/>
              </a:rPr>
              <a:t>ZNS</a:t>
            </a:r>
            <a:r>
              <a:rPr lang="en-US" dirty="0"/>
              <a:t> for AI/data centers, all while maintaining benefits like lower power, better durability, smaller form factors (M.2), and lower costs, pushing SSDs past HDDs for nearly all uses. </a:t>
            </a:r>
          </a:p>
          <a:p>
            <a:r>
              <a:rPr lang="en-US" b="1" dirty="0"/>
              <a:t>Interface &amp; Speed (</a:t>
            </a:r>
            <a:r>
              <a:rPr lang="en-US" b="1" dirty="0" err="1"/>
              <a:t>NVMe</a:t>
            </a:r>
            <a:r>
              <a:rPr lang="en-US" b="1" dirty="0"/>
              <a:t>/</a:t>
            </a:r>
            <a:r>
              <a:rPr lang="en-US" b="1" dirty="0" err="1"/>
              <a:t>PCIe</a:t>
            </a:r>
            <a:r>
              <a:rPr lang="en-US" b="1" dirty="0" smtClean="0"/>
              <a:t>)</a:t>
            </a:r>
          </a:p>
          <a:p>
            <a:r>
              <a:rPr lang="en-US" b="1" dirty="0">
                <a:hlinkClick r:id="rId6"/>
              </a:rPr>
              <a:t>NAND Flash Technology</a:t>
            </a:r>
            <a:r>
              <a:rPr lang="en-US" b="1" dirty="0"/>
              <a:t> (Capacity &amp; Density</a:t>
            </a:r>
            <a:r>
              <a:rPr lang="en-US" b="1" dirty="0" smtClean="0"/>
              <a:t>)</a:t>
            </a:r>
          </a:p>
        </p:txBody>
      </p:sp>
    </p:spTree>
    <p:extLst>
      <p:ext uri="{BB962C8B-B14F-4D97-AF65-F5344CB8AC3E}">
        <p14:creationId xmlns:p14="http://schemas.microsoft.com/office/powerpoint/2010/main" val="3955543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500" dirty="0"/>
              <a:t>Error detection and correction codes in memory</a:t>
            </a:r>
          </a:p>
        </p:txBody>
      </p:sp>
      <p:sp>
        <p:nvSpPr>
          <p:cNvPr id="3" name="Content Placeholder 2"/>
          <p:cNvSpPr>
            <a:spLocks noGrp="1"/>
          </p:cNvSpPr>
          <p:nvPr>
            <p:ph idx="1"/>
          </p:nvPr>
        </p:nvSpPr>
        <p:spPr/>
        <p:txBody>
          <a:bodyPr>
            <a:normAutofit/>
          </a:bodyPr>
          <a:lstStyle/>
          <a:p>
            <a:r>
              <a:rPr lang="en-US" dirty="0" smtClean="0"/>
              <a:t>Error </a:t>
            </a:r>
            <a:r>
              <a:rPr lang="en-US" dirty="0"/>
              <a:t>detection codes are used to detect the error(s) present in the received data (bit stream). These codes contain some bit(s), which are included (appended) to the original bit stream. These codes detect the error, if it is occurred during transmission of the original data (bit stream</a:t>
            </a:r>
            <a:r>
              <a:rPr lang="en-US" dirty="0" smtClean="0"/>
              <a:t>).</a:t>
            </a:r>
            <a:endParaRPr lang="en-US" dirty="0"/>
          </a:p>
          <a:p>
            <a:endParaRPr lang="en-US" dirty="0" smtClean="0"/>
          </a:p>
          <a:p>
            <a:r>
              <a:rPr lang="en-US" dirty="0" smtClean="0"/>
              <a:t>Error </a:t>
            </a:r>
            <a:r>
              <a:rPr lang="en-US" dirty="0"/>
              <a:t>correction codes are used to correct the error(s) present in the received data (bit stream) so that, we will get the original data. Error correction codes also use the similar strategy of error detection codes</a:t>
            </a:r>
            <a:r>
              <a:rPr lang="en-US" dirty="0" smtClean="0"/>
              <a:t>.</a:t>
            </a:r>
            <a:endParaRPr lang="en-US" dirty="0"/>
          </a:p>
        </p:txBody>
      </p:sp>
    </p:spTree>
    <p:extLst>
      <p:ext uri="{BB962C8B-B14F-4D97-AF65-F5344CB8AC3E}">
        <p14:creationId xmlns:p14="http://schemas.microsoft.com/office/powerpoint/2010/main" val="7567570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88448" y="1217523"/>
            <a:ext cx="8946541" cy="4195481"/>
          </a:xfrm>
        </p:spPr>
        <p:txBody>
          <a:bodyPr>
            <a:normAutofit fontScale="77500" lnSpcReduction="20000"/>
          </a:bodyPr>
          <a:lstStyle/>
          <a:p>
            <a:pPr algn="just"/>
            <a:r>
              <a:rPr lang="en-US" dirty="0"/>
              <a:t>Memory hierarchy optimization involves software/hardware strategies to reduce data access time by maximizing cache hits, using techniques like </a:t>
            </a:r>
            <a:r>
              <a:rPr lang="en-US" b="1" dirty="0">
                <a:hlinkClick r:id="rId2"/>
              </a:rPr>
              <a:t>loop tiling/interchange</a:t>
            </a:r>
            <a:r>
              <a:rPr lang="en-US" dirty="0"/>
              <a:t>, </a:t>
            </a:r>
            <a:r>
              <a:rPr lang="en-US" b="1" dirty="0">
                <a:hlinkClick r:id="rId3"/>
              </a:rPr>
              <a:t>data prefetching</a:t>
            </a:r>
            <a:r>
              <a:rPr lang="en-US" dirty="0"/>
              <a:t>, </a:t>
            </a:r>
            <a:r>
              <a:rPr lang="en-US" b="1" dirty="0">
                <a:hlinkClick r:id="rId4"/>
              </a:rPr>
              <a:t>cache-conscious data structures</a:t>
            </a:r>
            <a:r>
              <a:rPr lang="en-US" dirty="0"/>
              <a:t>, and hardware tuning (cache size/associativity) to bridge the CPU-memory speed gap, ensuring frequently used data stays in faster levels (Registers, Cache, RAM). </a:t>
            </a:r>
            <a:endParaRPr lang="en-US" dirty="0" smtClean="0"/>
          </a:p>
          <a:p>
            <a:pPr algn="just"/>
            <a:endParaRPr lang="en-US" dirty="0"/>
          </a:p>
          <a:p>
            <a:pPr algn="just"/>
            <a:r>
              <a:rPr lang="en-US" dirty="0"/>
              <a:t>Memory hierarchy optimization involves software/hardware strategies to reduce data access time by maximizing cache hits, using techniques like </a:t>
            </a:r>
            <a:r>
              <a:rPr lang="en-US" b="1" dirty="0">
                <a:hlinkClick r:id="rId2"/>
              </a:rPr>
              <a:t>loop tiling/interchange</a:t>
            </a:r>
            <a:r>
              <a:rPr lang="en-US" dirty="0"/>
              <a:t>, </a:t>
            </a:r>
            <a:r>
              <a:rPr lang="en-US" b="1" dirty="0">
                <a:hlinkClick r:id="rId3"/>
              </a:rPr>
              <a:t>data prefetching</a:t>
            </a:r>
            <a:r>
              <a:rPr lang="en-US" dirty="0"/>
              <a:t>, </a:t>
            </a:r>
            <a:r>
              <a:rPr lang="en-US" b="1" dirty="0">
                <a:hlinkClick r:id="rId4"/>
              </a:rPr>
              <a:t>cache-conscious data structures</a:t>
            </a:r>
            <a:r>
              <a:rPr lang="en-US" dirty="0"/>
              <a:t>, and hardware tuning (cache size/associativity) to bridge the CPU-memory speed gap, ensuring frequently used data stays in faster levels (Registers, Cache, RAM). </a:t>
            </a:r>
          </a:p>
          <a:p>
            <a:pPr algn="just"/>
            <a:endParaRPr lang="en-US" dirty="0"/>
          </a:p>
          <a:p>
            <a:pPr marL="285750" indent="-285750" algn="just">
              <a:buFont typeface="Arial" panose="020B0604020202020204" pitchFamily="34" charset="0"/>
              <a:buChar char="•"/>
            </a:pPr>
            <a:r>
              <a:rPr lang="en-US" b="1" dirty="0"/>
              <a:t>Software-Level Optimizations (Compiler/Programmer) </a:t>
            </a:r>
          </a:p>
          <a:p>
            <a:pPr marL="285750" indent="-285750" algn="just">
              <a:buFont typeface="Arial" panose="020B0604020202020204" pitchFamily="34" charset="0"/>
              <a:buChar char="•"/>
            </a:pPr>
            <a:r>
              <a:rPr lang="en-US" b="1" dirty="0"/>
              <a:t>Hardware-Level Optimizations (Architectural Design)</a:t>
            </a:r>
          </a:p>
          <a:p>
            <a:pPr marL="285750" indent="-285750" algn="just">
              <a:buFont typeface="Arial" panose="020B0604020202020204" pitchFamily="34" charset="0"/>
              <a:buChar char="•"/>
            </a:pPr>
            <a:r>
              <a:rPr lang="en-US" b="1" dirty="0"/>
              <a:t>Memory-Management-Techniques(Operating System)</a:t>
            </a:r>
          </a:p>
          <a:p>
            <a:pPr algn="just"/>
            <a:endParaRPr lang="en-US" dirty="0"/>
          </a:p>
        </p:txBody>
      </p:sp>
      <p:sp>
        <p:nvSpPr>
          <p:cNvPr id="4" name="Rectangle 1"/>
          <p:cNvSpPr>
            <a:spLocks noGrp="1" noChangeArrowheads="1"/>
          </p:cNvSpPr>
          <p:nvPr>
            <p:ph type="title"/>
          </p:nvPr>
        </p:nvSpPr>
        <p:spPr bwMode="auto">
          <a:xfrm>
            <a:off x="117988" y="586996"/>
            <a:ext cx="9153832"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dirty="0" smtClean="0">
                <a:ln>
                  <a:noFill/>
                </a:ln>
                <a:solidFill>
                  <a:schemeClr val="tx1"/>
                </a:solidFill>
                <a:effectLst/>
              </a:rPr>
              <a:t>			Memory hierarchy optimization techniques.</a:t>
            </a:r>
          </a:p>
        </p:txBody>
      </p:sp>
      <p:sp>
        <p:nvSpPr>
          <p:cNvPr id="6" name="Rectangle 2"/>
          <p:cNvSpPr>
            <a:spLocks noChangeArrowheads="1"/>
          </p:cNvSpPr>
          <p:nvPr/>
        </p:nvSpPr>
        <p:spPr bwMode="auto">
          <a:xfrm>
            <a:off x="0" y="0"/>
            <a:ext cx="12192000" cy="0"/>
          </a:xfrm>
          <a:prstGeom prst="rect">
            <a:avLst/>
          </a:prstGeom>
          <a:solidFill>
            <a:srgbClr val="22242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smtClean="0">
                <a:ln>
                  <a:noFill/>
                </a:ln>
                <a:solidFill>
                  <a:srgbClr val="EEF0FF"/>
                </a:solidFill>
                <a:effectLst/>
                <a:latin typeface="Google Sans"/>
              </a:rPr>
              <a:t>Memory Management Techniques (Operating System)</a:t>
            </a:r>
            <a:endParaRPr kumimoji="0" lang="en-US" altLang="en-US" sz="8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smtClean="0">
                <a:ln>
                  <a:noFill/>
                </a:ln>
                <a:solidFill>
                  <a:srgbClr val="E6E8F0"/>
                </a:solidFill>
                <a:effectLst/>
                <a:latin typeface="Google Sans"/>
              </a:rPr>
              <a:t/>
            </a:r>
            <a:br>
              <a:rPr kumimoji="0" lang="en-US" altLang="en-US" sz="1200" b="0" i="0" u="none" strike="noStrike" cap="none" normalizeH="0" baseline="0" smtClean="0">
                <a:ln>
                  <a:noFill/>
                </a:ln>
                <a:solidFill>
                  <a:srgbClr val="E6E8F0"/>
                </a:solidFill>
                <a:effectLst/>
                <a:latin typeface="Google Sans"/>
              </a:rPr>
            </a:br>
            <a:endParaRPr kumimoji="0" lang="en-US" altLang="en-US" sz="1200" b="0" i="0" u="none" strike="noStrike" cap="none" normalizeH="0" baseline="0" smtClean="0">
              <a:ln>
                <a:noFill/>
              </a:ln>
              <a:solidFill>
                <a:srgbClr val="E6E8F0"/>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211410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3144" y="646905"/>
            <a:ext cx="8946541" cy="4195481"/>
          </a:xfrm>
        </p:spPr>
        <p:txBody>
          <a:bodyPr>
            <a:normAutofit fontScale="70000" lnSpcReduction="20000"/>
          </a:bodyPr>
          <a:lstStyle/>
          <a:p>
            <a:pPr marL="0" indent="0">
              <a:buNone/>
            </a:pPr>
            <a:r>
              <a:rPr lang="en-US" b="1" dirty="0" smtClean="0"/>
              <a:t>How </a:t>
            </a:r>
            <a:r>
              <a:rPr lang="en-US" b="1" dirty="0"/>
              <a:t>Data is </a:t>
            </a:r>
            <a:r>
              <a:rPr lang="en-US" b="1" dirty="0" smtClean="0"/>
              <a:t>Stored</a:t>
            </a:r>
          </a:p>
          <a:p>
            <a:r>
              <a:rPr lang="en-US" sz="1500" b="1" dirty="0"/>
              <a:t>Binary </a:t>
            </a:r>
            <a:r>
              <a:rPr lang="en-US" sz="1500" b="1" dirty="0" smtClean="0"/>
              <a:t>Format</a:t>
            </a:r>
          </a:p>
          <a:p>
            <a:r>
              <a:rPr lang="en-US" sz="1500" dirty="0" smtClean="0"/>
              <a:t>Physical Media</a:t>
            </a:r>
          </a:p>
          <a:p>
            <a:r>
              <a:rPr lang="en-US" sz="1500" dirty="0" smtClean="0"/>
              <a:t>Storage Types- </a:t>
            </a:r>
            <a:r>
              <a:rPr lang="en-US" sz="1500" dirty="0" err="1" smtClean="0"/>
              <a:t>primary,secondary,cloud</a:t>
            </a:r>
            <a:r>
              <a:rPr lang="en-US" sz="1500" dirty="0" smtClean="0"/>
              <a:t> storage</a:t>
            </a:r>
          </a:p>
          <a:p>
            <a:r>
              <a:rPr lang="en-US" sz="1500" dirty="0" err="1" smtClean="0"/>
              <a:t>Datastructures</a:t>
            </a:r>
            <a:r>
              <a:rPr lang="en-US" sz="1500" dirty="0" smtClean="0"/>
              <a:t> &amp; Databases.</a:t>
            </a:r>
            <a:endParaRPr lang="en-US" sz="1500" dirty="0"/>
          </a:p>
          <a:p>
            <a:pPr marL="0" indent="0">
              <a:buNone/>
            </a:pPr>
            <a:r>
              <a:rPr lang="en-US" b="1" dirty="0" smtClean="0"/>
              <a:t>How </a:t>
            </a:r>
            <a:r>
              <a:rPr lang="en-US" b="1" dirty="0"/>
              <a:t>Data is </a:t>
            </a:r>
            <a:r>
              <a:rPr lang="en-US" b="1" dirty="0" smtClean="0"/>
              <a:t>Accessed</a:t>
            </a:r>
          </a:p>
          <a:p>
            <a:r>
              <a:rPr lang="en-US" sz="1500" b="1" dirty="0"/>
              <a:t>Direct </a:t>
            </a:r>
            <a:r>
              <a:rPr lang="en-US" sz="1500" b="1" dirty="0" smtClean="0"/>
              <a:t>Connection</a:t>
            </a:r>
            <a:endParaRPr lang="en-US" sz="1500" b="1" dirty="0"/>
          </a:p>
          <a:p>
            <a:r>
              <a:rPr lang="en-US" sz="1500" b="1" dirty="0" smtClean="0"/>
              <a:t>Network connection</a:t>
            </a:r>
          </a:p>
          <a:p>
            <a:r>
              <a:rPr lang="en-US" sz="1500" b="1" dirty="0" smtClean="0"/>
              <a:t>Protocols</a:t>
            </a:r>
          </a:p>
          <a:p>
            <a:r>
              <a:rPr lang="en-US" sz="1500" b="1" dirty="0" smtClean="0"/>
              <a:t>Management software-</a:t>
            </a:r>
            <a:r>
              <a:rPr lang="en-US" sz="1500" b="1" dirty="0" err="1" smtClean="0"/>
              <a:t>dbms,file</a:t>
            </a:r>
            <a:r>
              <a:rPr lang="en-US" sz="1500" b="1" dirty="0" smtClean="0"/>
              <a:t> system</a:t>
            </a:r>
          </a:p>
          <a:p>
            <a:r>
              <a:rPr lang="en-US" sz="1500" b="1" dirty="0" smtClean="0"/>
              <a:t>Access types-</a:t>
            </a:r>
            <a:r>
              <a:rPr lang="en-US" sz="1500" b="1" dirty="0" err="1" smtClean="0"/>
              <a:t>sequential,random</a:t>
            </a:r>
            <a:endParaRPr lang="en-US" sz="1500" b="1" dirty="0" smtClean="0"/>
          </a:p>
          <a:p>
            <a:pPr marL="0" indent="0">
              <a:buNone/>
            </a:pPr>
            <a:endParaRPr lang="en-US" sz="1600" dirty="0"/>
          </a:p>
          <a:p>
            <a:pPr marL="0" indent="0" algn="just">
              <a:buNone/>
            </a:pPr>
            <a:r>
              <a:rPr lang="en-US" sz="1900" dirty="0" smtClean="0"/>
              <a:t>Memory </a:t>
            </a:r>
            <a:r>
              <a:rPr lang="en-US" sz="1900" dirty="0"/>
              <a:t>management in an OS is the crucial process of efficiently allocating, tracking, protecting, and organizing the computer's main memory (RAM) among various running programs, ensuring optimal utilization, performance, and security by handling allocation/deallocation, preventing conflicts, and using techniques like paging, swapping, and virtual memory to extend capacity</a:t>
            </a:r>
            <a:endParaRPr lang="en-US" sz="1900" dirty="0" smtClean="0"/>
          </a:p>
        </p:txBody>
      </p:sp>
    </p:spTree>
    <p:extLst>
      <p:ext uri="{BB962C8B-B14F-4D97-AF65-F5344CB8AC3E}">
        <p14:creationId xmlns:p14="http://schemas.microsoft.com/office/powerpoint/2010/main" val="13761575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22399" y="1141069"/>
            <a:ext cx="9566786" cy="4524315"/>
          </a:xfrm>
          <a:prstGeom prst="rect">
            <a:avLst/>
          </a:prstGeom>
          <a:noFill/>
        </p:spPr>
        <p:txBody>
          <a:bodyPr wrap="square" rtlCol="0">
            <a:spAutoFit/>
          </a:bodyPr>
          <a:lstStyle/>
          <a:p>
            <a:pPr marL="285750" indent="-285750">
              <a:buFont typeface="Arial" panose="020B0604020202020204" pitchFamily="34" charset="0"/>
              <a:buChar char="•"/>
            </a:pPr>
            <a:r>
              <a:rPr lang="en-US" dirty="0"/>
              <a:t>IO systems, or input/output systems, are the hardware and software components that allow a computer to communicate with the outside world, handling data transfer between the system and external devices like keyboards, displays, and storage </a:t>
            </a:r>
            <a:r>
              <a:rPr lang="en-US" dirty="0" smtClean="0"/>
              <a:t>drives</a:t>
            </a:r>
          </a:p>
          <a:p>
            <a:endParaRPr lang="en-US" dirty="0" smtClean="0"/>
          </a:p>
          <a:p>
            <a:pPr marL="285750" indent="-285750">
              <a:buFont typeface="Arial" panose="020B0604020202020204" pitchFamily="34" charset="0"/>
              <a:buChar char="•"/>
            </a:pPr>
            <a:r>
              <a:rPr lang="en-US" dirty="0"/>
              <a:t>CPU, memory, and I/O communicate via the </a:t>
            </a:r>
            <a:r>
              <a:rPr lang="en-US" b="1" dirty="0"/>
              <a:t>system bus</a:t>
            </a:r>
            <a:r>
              <a:rPr lang="en-US" dirty="0"/>
              <a:t> (address, data, control lines) using </a:t>
            </a:r>
            <a:r>
              <a:rPr lang="en-US" b="1" dirty="0"/>
              <a:t>I/O interfaces/controllers</a:t>
            </a:r>
            <a:r>
              <a:rPr lang="en-US" dirty="0"/>
              <a:t> that bridge speed/format differences, with the CPU issuing commands (read/write/status) to specific device </a:t>
            </a:r>
            <a:r>
              <a:rPr lang="en-US" dirty="0" smtClean="0"/>
              <a:t>addresses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hlinkClick r:id="rId2"/>
              </a:rPr>
              <a:t>DMA</a:t>
            </a:r>
            <a:r>
              <a:rPr lang="en-US" dirty="0"/>
              <a:t>: For big data (like file transfers), a peripheral can directly move data to/from RAM without constant CPU involvement, freeing the CPU. </a:t>
            </a:r>
            <a:endParaRPr lang="en-US" dirty="0" smtClean="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An I/O (Input/Output) interface protocol defines the rules for communication between a computer's CPU/memory and peripheral devices (like keyboards, printers, disks), acting as a translator for data, control signals, and status, ensuring devices with different speeds/formats work </a:t>
            </a:r>
            <a:r>
              <a:rPr lang="en-US" dirty="0" smtClean="0"/>
              <a:t>together</a:t>
            </a:r>
            <a:r>
              <a:rPr lang="en-US" dirty="0" smtClean="0"/>
              <a:t>.</a:t>
            </a:r>
            <a:endParaRPr lang="en-US" dirty="0" smtClean="0"/>
          </a:p>
        </p:txBody>
      </p:sp>
    </p:spTree>
    <p:extLst>
      <p:ext uri="{BB962C8B-B14F-4D97-AF65-F5344CB8AC3E}">
        <p14:creationId xmlns:p14="http://schemas.microsoft.com/office/powerpoint/2010/main" val="9701723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52473" y="912376"/>
            <a:ext cx="8946541" cy="4195481"/>
          </a:xfrm>
        </p:spPr>
        <p:txBody>
          <a:bodyPr>
            <a:normAutofit fontScale="92500" lnSpcReduction="20000"/>
          </a:bodyPr>
          <a:lstStyle/>
          <a:p>
            <a:r>
              <a:rPr lang="en-US" b="1" dirty="0"/>
              <a:t>I/O Virtualization </a:t>
            </a:r>
            <a:r>
              <a:rPr lang="en-US" b="1" dirty="0" smtClean="0"/>
              <a:t>Techniques</a:t>
            </a:r>
          </a:p>
          <a:p>
            <a:pPr marL="0" indent="0">
              <a:buNone/>
            </a:pPr>
            <a:r>
              <a:rPr lang="en-US" dirty="0"/>
              <a:t>Software-based Emulation: The hypervisor emulates generic I/O devices for </a:t>
            </a:r>
            <a:r>
              <a:rPr lang="en-US" dirty="0" smtClean="0"/>
              <a:t>the </a:t>
            </a:r>
            <a:r>
              <a:rPr lang="en-US" dirty="0"/>
              <a:t>guest OS</a:t>
            </a:r>
            <a:r>
              <a:rPr lang="en-US" dirty="0" smtClean="0"/>
              <a:t>.</a:t>
            </a:r>
          </a:p>
          <a:p>
            <a:pPr marL="0" indent="0">
              <a:buNone/>
            </a:pPr>
            <a:r>
              <a:rPr lang="en-US" dirty="0" err="1" smtClean="0"/>
              <a:t>Paravirtualization</a:t>
            </a:r>
            <a:r>
              <a:rPr lang="en-US" dirty="0"/>
              <a:t>-</a:t>
            </a:r>
            <a:r>
              <a:rPr lang="en-US" dirty="0" smtClean="0"/>
              <a:t>The </a:t>
            </a:r>
            <a:r>
              <a:rPr lang="en-US" dirty="0"/>
              <a:t>guest OS is modified to be "virtualization-aware" and collaborates with the hypervisor through a set of specialized software </a:t>
            </a:r>
            <a:r>
              <a:rPr lang="en-US" dirty="0" smtClean="0"/>
              <a:t>interfaces</a:t>
            </a:r>
          </a:p>
          <a:p>
            <a:pPr marL="0" indent="0">
              <a:buNone/>
            </a:pPr>
            <a:endParaRPr lang="en-US" dirty="0"/>
          </a:p>
          <a:p>
            <a:r>
              <a:rPr lang="en-US" b="1" dirty="0" smtClean="0"/>
              <a:t>Future Trends in IO</a:t>
            </a:r>
          </a:p>
          <a:p>
            <a:pPr marL="0" indent="0">
              <a:buNone/>
            </a:pPr>
            <a:r>
              <a:rPr lang="en-US" sz="1800" dirty="0"/>
              <a:t>Integration of Containers and </a:t>
            </a:r>
            <a:r>
              <a:rPr lang="en-US" sz="1800" dirty="0" smtClean="0"/>
              <a:t>VMs</a:t>
            </a:r>
            <a:endParaRPr lang="en-US" sz="1800" dirty="0"/>
          </a:p>
          <a:p>
            <a:pPr marL="0" indent="0">
              <a:buNone/>
            </a:pPr>
            <a:r>
              <a:rPr lang="en-US" sz="1800" dirty="0"/>
              <a:t>Open Hybrid Cloud </a:t>
            </a:r>
            <a:r>
              <a:rPr lang="en-US" sz="1800" dirty="0" smtClean="0"/>
              <a:t>Solutions-The </a:t>
            </a:r>
            <a:r>
              <a:rPr lang="en-US" sz="1800" dirty="0"/>
              <a:t>market is leaning toward open-source virtualization solutions (like Kubernetes, </a:t>
            </a:r>
            <a:r>
              <a:rPr lang="en-US" sz="1800" dirty="0" err="1"/>
              <a:t>KubeVirt</a:t>
            </a:r>
            <a:r>
              <a:rPr lang="en-US" sz="1800" dirty="0"/>
              <a:t>, and KVM</a:t>
            </a:r>
            <a:r>
              <a:rPr lang="en-US" sz="1800" dirty="0" smtClean="0"/>
              <a:t>)</a:t>
            </a:r>
          </a:p>
          <a:p>
            <a:pPr marL="0" indent="0">
              <a:buNone/>
            </a:pPr>
            <a:r>
              <a:rPr lang="en-US" sz="1800" dirty="0"/>
              <a:t>AI-Driven </a:t>
            </a:r>
            <a:r>
              <a:rPr lang="en-US" sz="1800" dirty="0" smtClean="0"/>
              <a:t>Management-predicting and preventing problems, and optimizing performance in </a:t>
            </a:r>
            <a:r>
              <a:rPr lang="en-US" sz="1800" dirty="0"/>
              <a:t>dynamic virtualized </a:t>
            </a:r>
            <a:r>
              <a:rPr lang="en-US" sz="1800" dirty="0" smtClean="0"/>
              <a:t>environments.</a:t>
            </a:r>
          </a:p>
          <a:p>
            <a:pPr marL="0" indent="0">
              <a:buNone/>
            </a:pPr>
            <a:endParaRPr lang="en-US" sz="1800" dirty="0"/>
          </a:p>
        </p:txBody>
      </p:sp>
    </p:spTree>
    <p:extLst>
      <p:ext uri="{BB962C8B-B14F-4D97-AF65-F5344CB8AC3E}">
        <p14:creationId xmlns:p14="http://schemas.microsoft.com/office/powerpoint/2010/main" val="3361001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50796" y="696067"/>
            <a:ext cx="8946541" cy="5517921"/>
          </a:xfrm>
        </p:spPr>
        <p:txBody>
          <a:bodyPr>
            <a:normAutofit/>
          </a:bodyPr>
          <a:lstStyle/>
          <a:p>
            <a:r>
              <a:rPr lang="en-US" sz="1700" dirty="0">
                <a:hlinkClick r:id="rId2"/>
              </a:rPr>
              <a:t>Parallel computing</a:t>
            </a:r>
            <a:r>
              <a:rPr lang="en-US" sz="1700" dirty="0"/>
              <a:t> is a method of running many calculations simultaneously by breaking a large problem into smaller tasks, solved concurrently by multiple processors or cores to achieve faster </a:t>
            </a:r>
            <a:r>
              <a:rPr lang="en-US" sz="1700" dirty="0" smtClean="0"/>
              <a:t>results.</a:t>
            </a:r>
          </a:p>
          <a:p>
            <a:r>
              <a:rPr lang="en-US" sz="1700" dirty="0"/>
              <a:t>A </a:t>
            </a:r>
            <a:r>
              <a:rPr lang="en-US" sz="1700" dirty="0">
                <a:hlinkClick r:id="rId3"/>
              </a:rPr>
              <a:t>multi-core CPU</a:t>
            </a:r>
            <a:r>
              <a:rPr lang="en-US" sz="1700" dirty="0"/>
              <a:t> has fewer, powerful cores for sequential, general tasks (like running your OS), prioritizing low latency; a </a:t>
            </a:r>
            <a:r>
              <a:rPr lang="en-US" sz="1700" dirty="0">
                <a:hlinkClick r:id="rId4"/>
              </a:rPr>
              <a:t>GPU</a:t>
            </a:r>
            <a:r>
              <a:rPr lang="en-US" sz="1700" dirty="0"/>
              <a:t> has thousands of simpler cores for massive parallel processing, excelling at repetitive tasks like graphics, AI, and big data, prioritizing high throughput, making them great for different </a:t>
            </a:r>
            <a:r>
              <a:rPr lang="en-US" sz="1700" dirty="0" smtClean="0"/>
              <a:t>workloads.</a:t>
            </a:r>
          </a:p>
          <a:p>
            <a:r>
              <a:rPr lang="en-US" sz="1700" dirty="0"/>
              <a:t>The two basic classifications of parallel processing are </a:t>
            </a:r>
            <a:endParaRPr lang="en-US" sz="1700" dirty="0" smtClean="0"/>
          </a:p>
          <a:p>
            <a:pPr marL="0" indent="0">
              <a:buNone/>
            </a:pPr>
            <a:r>
              <a:rPr lang="en-US" sz="1700" b="1" dirty="0" smtClean="0"/>
              <a:t>SIMD</a:t>
            </a:r>
            <a:r>
              <a:rPr lang="en-US" sz="1700" dirty="0" smtClean="0"/>
              <a:t> </a:t>
            </a:r>
            <a:r>
              <a:rPr lang="en-US" sz="1700" dirty="0"/>
              <a:t>which stands for Single Instruction Multiple Data and MIMD which stands for Multiple Instruction Multiple Data. The use of SIMD enables the processing of many data with a single instruction and is applicable to most operations that are uniform such as image processing. </a:t>
            </a:r>
            <a:endParaRPr lang="en-US" sz="1700" dirty="0" smtClean="0"/>
          </a:p>
          <a:p>
            <a:pPr marL="0" indent="0">
              <a:buNone/>
            </a:pPr>
            <a:r>
              <a:rPr lang="en-US" sz="1700" dirty="0" smtClean="0"/>
              <a:t>On </a:t>
            </a:r>
            <a:r>
              <a:rPr lang="en-US" sz="1700" dirty="0"/>
              <a:t>the other hand, </a:t>
            </a:r>
            <a:r>
              <a:rPr lang="en-US" sz="1700" b="1" dirty="0"/>
              <a:t>MIMD</a:t>
            </a:r>
            <a:r>
              <a:rPr lang="en-US" sz="1700" dirty="0"/>
              <a:t> permits different instructions on different data items to be performed hence making it more versatile for versatile applications, simulation applications, and multitasking applications. Comparing SIMD and MIMD allows the decision on what architecture to use when concentrating on a certain kind of computational problem</a:t>
            </a:r>
            <a:r>
              <a:rPr lang="en-US" sz="1700" dirty="0" smtClean="0"/>
              <a:t>.</a:t>
            </a:r>
          </a:p>
          <a:p>
            <a:pPr marL="0" indent="0">
              <a:buNone/>
            </a:pPr>
            <a:endParaRPr lang="en-US" sz="1700" dirty="0"/>
          </a:p>
        </p:txBody>
      </p:sp>
    </p:spTree>
    <p:extLst>
      <p:ext uri="{BB962C8B-B14F-4D97-AF65-F5344CB8AC3E}">
        <p14:creationId xmlns:p14="http://schemas.microsoft.com/office/powerpoint/2010/main" val="32399126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0125" y="932041"/>
            <a:ext cx="8946541" cy="4195481"/>
          </a:xfrm>
        </p:spPr>
        <p:txBody>
          <a:bodyPr>
            <a:normAutofit fontScale="92500" lnSpcReduction="20000"/>
          </a:bodyPr>
          <a:lstStyle/>
          <a:p>
            <a:pPr fontAlgn="base"/>
            <a:r>
              <a:rPr lang="en-US" sz="1800" b="1" dirty="0"/>
              <a:t>FPGA</a:t>
            </a:r>
          </a:p>
          <a:p>
            <a:pPr marL="0" indent="0" fontAlgn="base">
              <a:buNone/>
            </a:pPr>
            <a:r>
              <a:rPr lang="en-US" sz="1500" dirty="0"/>
              <a:t>FPGA stands for Field Programmable Gate Array, which is a chip that is reprogrammable with a collection of hundreds of thousands of logic gates that are connecting internally together to build a complex digital circuit. Basically, it is an integrated circuit that can be programmed by the user to capture the logic</a:t>
            </a:r>
            <a:r>
              <a:rPr lang="en-US" sz="1500" dirty="0" smtClean="0"/>
              <a:t>.</a:t>
            </a:r>
          </a:p>
          <a:p>
            <a:pPr fontAlgn="base"/>
            <a:r>
              <a:rPr lang="en-US" sz="1800" b="1" dirty="0" smtClean="0"/>
              <a:t>ASIC</a:t>
            </a:r>
            <a:endParaRPr lang="en-US" sz="1800" b="1" dirty="0"/>
          </a:p>
          <a:p>
            <a:pPr marL="0" indent="0" fontAlgn="base">
              <a:buNone/>
            </a:pPr>
            <a:r>
              <a:rPr lang="en-US" sz="1600" dirty="0" smtClean="0"/>
              <a:t>ASIC </a:t>
            </a:r>
            <a:r>
              <a:rPr lang="en-US" sz="1600" dirty="0"/>
              <a:t>stands for Application Specific Integrated Circuit, built especially for a specific application or any purpose. If one compares this with any other device, it is having improved speed. Basically, it is an integrated circuit that is specified for one specific purpose</a:t>
            </a:r>
            <a:r>
              <a:rPr lang="en-US" sz="1600" dirty="0" smtClean="0"/>
              <a:t>.</a:t>
            </a:r>
            <a:endParaRPr lang="en-US" sz="1600" dirty="0"/>
          </a:p>
          <a:p>
            <a:pPr marL="0" indent="0" fontAlgn="base">
              <a:buNone/>
            </a:pPr>
            <a:r>
              <a:rPr lang="en-US" sz="1600" dirty="0"/>
              <a:t>Parallel programming faces challenges like </a:t>
            </a:r>
            <a:r>
              <a:rPr lang="en-US" sz="1600" b="1" dirty="0"/>
              <a:t>complexity, </a:t>
            </a:r>
            <a:r>
              <a:rPr lang="en-US" sz="1600" b="1" dirty="0">
                <a:hlinkClick r:id="rId2"/>
              </a:rPr>
              <a:t>Amdahl's Law</a:t>
            </a:r>
            <a:r>
              <a:rPr lang="en-US" sz="1600" b="1" dirty="0"/>
              <a:t>, scalability, load balancing, and communication overhead</a:t>
            </a:r>
            <a:r>
              <a:rPr lang="en-US" sz="1600" dirty="0"/>
              <a:t>, while synchronization is a critical </a:t>
            </a:r>
            <a:r>
              <a:rPr lang="en-US" sz="1600" i="1" dirty="0"/>
              <a:t>part</a:t>
            </a:r>
            <a:r>
              <a:rPr lang="en-US" sz="1600" dirty="0"/>
              <a:t> of these challenges, specifically dealing with </a:t>
            </a:r>
            <a:r>
              <a:rPr lang="en-US" sz="1600" b="1" dirty="0"/>
              <a:t>correct data access, race conditions, deadlocks, and ensuring proper ordering (causality)</a:t>
            </a:r>
            <a:r>
              <a:rPr lang="en-US" sz="1600" dirty="0"/>
              <a:t> for concurrent </a:t>
            </a:r>
            <a:r>
              <a:rPr lang="en-US" sz="1600" dirty="0" smtClean="0"/>
              <a:t>tasks</a:t>
            </a:r>
          </a:p>
          <a:p>
            <a:pPr marL="0" indent="0" fontAlgn="base">
              <a:buNone/>
            </a:pPr>
            <a:endParaRPr lang="en-US" sz="1600" dirty="0"/>
          </a:p>
          <a:p>
            <a:pPr marL="0" indent="0" fontAlgn="base">
              <a:buNone/>
            </a:pPr>
            <a:r>
              <a:rPr lang="en-US" sz="1600" b="1" dirty="0"/>
              <a:t>Data </a:t>
            </a:r>
            <a:r>
              <a:rPr lang="en-US" sz="1600" b="1" dirty="0" smtClean="0"/>
              <a:t>Parallelism-</a:t>
            </a:r>
            <a:r>
              <a:rPr lang="en-US" sz="1600" dirty="0"/>
              <a:t>The </a:t>
            </a:r>
            <a:r>
              <a:rPr lang="en-US" sz="1600" b="1" dirty="0"/>
              <a:t>same</a:t>
            </a:r>
            <a:r>
              <a:rPr lang="en-US" sz="1600" dirty="0"/>
              <a:t> operation is applied to all data subsets</a:t>
            </a:r>
            <a:r>
              <a:rPr lang="en-US" sz="1600" dirty="0" smtClean="0"/>
              <a:t>.</a:t>
            </a:r>
          </a:p>
          <a:p>
            <a:pPr marL="0" indent="0" fontAlgn="base">
              <a:buNone/>
            </a:pPr>
            <a:r>
              <a:rPr lang="en-US" sz="1600" b="1" dirty="0"/>
              <a:t>Task </a:t>
            </a:r>
            <a:r>
              <a:rPr lang="en-US" sz="1600" b="1" dirty="0" smtClean="0"/>
              <a:t>Parallelism-</a:t>
            </a:r>
            <a:r>
              <a:rPr lang="en-US" sz="1600" b="1" dirty="0"/>
              <a:t>Different</a:t>
            </a:r>
            <a:r>
              <a:rPr lang="en-US" sz="1600" dirty="0"/>
              <a:t> operations (tasks) are performed simultaneously.</a:t>
            </a:r>
            <a:endParaRPr lang="en-US" sz="1500" dirty="0"/>
          </a:p>
        </p:txBody>
      </p:sp>
    </p:spTree>
    <p:extLst>
      <p:ext uri="{BB962C8B-B14F-4D97-AF65-F5344CB8AC3E}">
        <p14:creationId xmlns:p14="http://schemas.microsoft.com/office/powerpoint/2010/main" val="40566362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528</TotalTime>
  <Words>1961</Words>
  <Application>Microsoft Office PowerPoint</Application>
  <PresentationFormat>Widescreen</PresentationFormat>
  <Paragraphs>193</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Century Gothic</vt:lpstr>
      <vt:lpstr>Courier New</vt:lpstr>
      <vt:lpstr>Google Sans</vt:lpstr>
      <vt:lpstr>Wingdings 3</vt:lpstr>
      <vt:lpstr>Ion</vt:lpstr>
      <vt:lpstr>COMPUTER ARCHITECTURE</vt:lpstr>
      <vt:lpstr>Introduction to Computer Architecture</vt:lpstr>
      <vt:lpstr>PowerPoint Presentation</vt:lpstr>
      <vt:lpstr>Importance in software development.</vt:lpstr>
      <vt:lpstr>Historical development of computer architectures</vt:lpstr>
      <vt:lpstr>PowerPoint Presentation</vt:lpstr>
      <vt:lpstr>RISC vs. CISC architectures</vt:lpstr>
      <vt:lpstr>PowerPoint Presentation</vt:lpstr>
      <vt:lpstr>Pipeline processing and superscalar</vt:lpstr>
      <vt:lpstr>Computer arithmetic and ALU design.  </vt:lpstr>
      <vt:lpstr>Virtual memory and paging systems. </vt:lpstr>
      <vt:lpstr>PowerPoint Presentation</vt:lpstr>
      <vt:lpstr>Benchmarking and performance</vt:lpstr>
      <vt:lpstr>PowerPoint Presentation</vt:lpstr>
      <vt:lpstr>PowerPoint Presentation</vt:lpstr>
      <vt:lpstr>Microarchitecture design and Instruction Set Architecture </vt:lpstr>
      <vt:lpstr>PowerPoint Presentation</vt:lpstr>
      <vt:lpstr>Parallelism at the instruction level (ILP)</vt:lpstr>
      <vt:lpstr>CPU cooling and thermal management</vt:lpstr>
      <vt:lpstr>The future of CPUs: Quantum computing and beyond.   </vt:lpstr>
      <vt:lpstr>Cache memory and coherence</vt:lpstr>
      <vt:lpstr>PowerPoint Presentation</vt:lpstr>
      <vt:lpstr>Advances in solid-state drives (SSDs) technology</vt:lpstr>
      <vt:lpstr>Error detection and correction codes in memory</vt:lpstr>
      <vt:lpstr>   Memory hierarchy optimization techniques.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ARCHITECTURE</dc:title>
  <dc:creator>Microsoft account</dc:creator>
  <cp:lastModifiedBy>Microsoft account</cp:lastModifiedBy>
  <cp:revision>33</cp:revision>
  <dcterms:created xsi:type="dcterms:W3CDTF">2025-12-11T10:23:29Z</dcterms:created>
  <dcterms:modified xsi:type="dcterms:W3CDTF">2025-12-12T06:26:05Z</dcterms:modified>
</cp:coreProperties>
</file>